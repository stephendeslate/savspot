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6" roundtripDataSignature="AMtx7mgUTrgmhVb/IvtWkyQTrUXE6T4C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BB4BFD-88E4-4783-9C64-90CA04ADB2B8}">
  <a:tblStyle styleId="{36BB4BFD-88E4-4783-9C64-90CA04ADB2B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customschemas.google.com/relationships/presentationmetadata" Target="metadata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SAVSPOT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371600" y="24688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"Find your spot. Book your moment."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5029200" y="3291840"/>
            <a:ext cx="210312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371600" y="356616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Multi-Tenant, AI-Agent-Ready Booking SaaS Platform</a:t>
            </a:r>
            <a:br>
              <a:rPr b="0" i="0" lang="en-US" sz="2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for Service Businesses Globally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371600" y="48463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SD Solutions, LLC  |  Solo Developer, Bootstrap-Funded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Comprehensive presentation derived from 9 specification documents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March 2026  |  v1.2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 Set Overview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 interconnected specification documents with 100% cross-reference consistency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548640" y="1554480"/>
            <a:ext cx="3383280" cy="13716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548640" y="1554480"/>
            <a:ext cx="63500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777240" y="164592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BRD v1.2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777240" y="19202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Requirements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777240" y="224028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Revenue model, business rules,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constraints, glossary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4206240" y="1554480"/>
            <a:ext cx="3383280" cy="13716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4206240" y="1554480"/>
            <a:ext cx="63500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4434840" y="164592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PRD v1.1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4434840" y="19202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 Requirements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4434840" y="224028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All FR codes, phase matrix,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MoSCoW priorities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7863840" y="1554480"/>
            <a:ext cx="3383280" cy="13716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7863840" y="1554480"/>
            <a:ext cx="63500" cy="13716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8092440" y="164592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PVD v1.1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8092440" y="19202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 Vision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8092440" y="224028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Personas, competitive landscape,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soft launch strategy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548640" y="3108960"/>
            <a:ext cx="3383280" cy="13716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548640" y="3108960"/>
            <a:ext cx="63500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777240" y="320040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SRS-1 v1.1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777240" y="347472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777240" y="379476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Tech stack, monorepo,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infrastructure, deployment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4206240" y="3108960"/>
            <a:ext cx="3383280" cy="13716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4206240" y="3108960"/>
            <a:ext cx="63500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4434840" y="320040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SRS-2 v1.1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4434840" y="347472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Model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4434840" y="379476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40+ DB tables, ERD,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API endpoint catalog</a:t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7863840" y="3108960"/>
            <a:ext cx="3383280" cy="13716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7863840" y="3108960"/>
            <a:ext cx="63500" cy="13716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8092440" y="320040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SRS-3 v1.1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8092440" y="347472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Booking &amp; Payments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8092440" y="379476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State machines, availability,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payment processing</a:t>
            </a:r>
            <a:endParaRPr/>
          </a:p>
        </p:txBody>
      </p:sp>
      <p:sp>
        <p:nvSpPr>
          <p:cNvPr id="129" name="Google Shape;129;p2"/>
          <p:cNvSpPr/>
          <p:nvPr/>
        </p:nvSpPr>
        <p:spPr>
          <a:xfrm>
            <a:off x="548640" y="4663440"/>
            <a:ext cx="3383280" cy="13716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548640" y="4663440"/>
            <a:ext cx="63500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777240" y="475488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SRS-4 v1.1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777240" y="502920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Comms &amp; Security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777240" y="53492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Templates, auth, GDPR,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workflow automation</a:t>
            </a:r>
            <a:endParaRPr/>
          </a:p>
        </p:txBody>
      </p:sp>
      <p:sp>
        <p:nvSpPr>
          <p:cNvPr id="134" name="Google Shape;134;p2"/>
          <p:cNvSpPr/>
          <p:nvPr/>
        </p:nvSpPr>
        <p:spPr>
          <a:xfrm>
            <a:off x="4206240" y="4663440"/>
            <a:ext cx="3383280" cy="13716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4206240" y="4663440"/>
            <a:ext cx="63500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4434840" y="475488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GTM v1.0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4434840" y="502920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Distribution Strategy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4434840" y="53492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Design partner, concierge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launch, channels</a:t>
            </a: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7863840" y="4663440"/>
            <a:ext cx="3383280" cy="13716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7863840" y="4663440"/>
            <a:ext cx="63500" cy="13716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8092440" y="475488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VAL v1.3</a:t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8092440" y="502920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 Analysis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8092440" y="53492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Multi-dimensional assessment,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risk analysis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/>
          <p:cNvSpPr/>
          <p:nvPr/>
        </p:nvSpPr>
        <p:spPr>
          <a:xfrm>
            <a:off x="731520" y="228600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2011680" y="21031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Vision &amp; Problem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2011680" y="30175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Why the world needs a new booking platform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Fragmented, expensive, and AI-hostile booking infrastructure</a:t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548640" y="1554480"/>
            <a:ext cx="347472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548640" y="16002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Businesses</a:t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548640" y="2148840"/>
            <a:ext cx="3474720" cy="91440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685800" y="224028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Manual booking via phone, WhatsApp,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email leads to double-bookings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548640" y="3154680"/>
            <a:ext cx="3474720" cy="91440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685800" y="324612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No online booking despite having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social media presence</a:t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548640" y="4160520"/>
            <a:ext cx="3474720" cy="91440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685800" y="425196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Fragmented tools for scheduling,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invoicing, and client management</a:t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548640" y="5166360"/>
            <a:ext cx="3474720" cy="91440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685800" y="525780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Per-seat pricing ($20-$699/mo)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is a barrier for micro-businesses</a:t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4251960" y="1554480"/>
            <a:ext cx="34747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4251960" y="16002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Clients</a:t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4251960" y="2148840"/>
            <a:ext cx="3474720" cy="91440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4389120" y="224028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Booking friction: multiple calls,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emails, manual coordination</a:t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4251960" y="3154680"/>
            <a:ext cx="3474720" cy="91440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4389120" y="324612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Scattered discovery with no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consistent booking experience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4251960" y="4160520"/>
            <a:ext cx="3474720" cy="91440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4389120" y="425196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AI agents cannot book because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businesses lack structured APIs</a:t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7955280" y="1554480"/>
            <a:ext cx="3474720" cy="4572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7955280" y="16002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the Market</a:t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7955280" y="2148840"/>
            <a:ext cx="3474720" cy="91440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8092440" y="224028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No AI-native booking platform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exists today</a:t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7955280" y="3154680"/>
            <a:ext cx="3474720" cy="91440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8092440" y="324612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AI tooling is expanding the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population of service businesses</a:t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7955280" y="4160520"/>
            <a:ext cx="3474720" cy="91440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 txBox="1"/>
          <p:nvPr/>
        </p:nvSpPr>
        <p:spPr>
          <a:xfrm>
            <a:off x="8092440" y="425196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New businesses have no incumbent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solution -- greenfield demand</a:t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7955280" y="5166360"/>
            <a:ext cx="3474720" cy="91440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 txBox="1"/>
          <p:nvPr/>
        </p:nvSpPr>
        <p:spPr>
          <a:xfrm>
            <a:off x="8092440" y="525780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Per-seat SaaS pricing misaligned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with AI agent usage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Solution: SavSpot</a:t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The free booking platform that works for any business in under 5 minutes.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548650" y="2286000"/>
            <a:ext cx="3474600" cy="17448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731520" y="246888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/>
          </a:p>
        </p:txBody>
      </p:sp>
      <p:sp>
        <p:nvSpPr>
          <p:cNvPr id="195" name="Google Shape;195;p5"/>
          <p:cNvSpPr txBox="1"/>
          <p:nvPr/>
        </p:nvSpPr>
        <p:spPr>
          <a:xfrm>
            <a:off x="731520" y="30632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Zero-Config to Live</a:t>
            </a:r>
            <a:endParaRPr/>
          </a:p>
        </p:txBody>
      </p:sp>
      <p:sp>
        <p:nvSpPr>
          <p:cNvPr id="196" name="Google Shape;196;p5"/>
          <p:cNvSpPr txBox="1"/>
          <p:nvPr/>
        </p:nvSpPr>
        <p:spPr>
          <a:xfrm>
            <a:off x="731520" y="338328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fields + 1 decision to a working booking page with preset defaults</a:t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4251950" y="2286000"/>
            <a:ext cx="3474600" cy="17448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4434840" y="246888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✨</a:t>
            </a:r>
            <a:endParaRPr/>
          </a:p>
        </p:txBody>
      </p:sp>
      <p:sp>
        <p:nvSpPr>
          <p:cNvPr id="199" name="Google Shape;199;p5"/>
          <p:cNvSpPr txBox="1"/>
          <p:nvPr/>
        </p:nvSpPr>
        <p:spPr>
          <a:xfrm>
            <a:off x="4434840" y="30632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Universal Engine</a:t>
            </a:r>
            <a:endParaRPr/>
          </a:p>
        </p:txBody>
      </p:sp>
      <p:sp>
        <p:nvSpPr>
          <p:cNvPr id="200" name="Google Shape;200;p5"/>
          <p:cNvSpPr txBox="1"/>
          <p:nvPr/>
        </p:nvSpPr>
        <p:spPr>
          <a:xfrm>
            <a:off x="4434840" y="338328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Serves freelancers through venues with a single codebase -- complexity scales per service, not per tenant</a:t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7955275" y="2286000"/>
            <a:ext cx="3474600" cy="17448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8138160" y="246888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8138160" y="30632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AI-Agent Ready</a:t>
            </a:r>
            <a:endParaRPr/>
          </a:p>
        </p:txBody>
      </p:sp>
      <p:sp>
        <p:nvSpPr>
          <p:cNvPr id="204" name="Google Shape;204;p5"/>
          <p:cNvSpPr txBox="1"/>
          <p:nvPr/>
        </p:nvSpPr>
        <p:spPr>
          <a:xfrm>
            <a:off x="8138160" y="338328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MCP + structured APIs from day one -- AI agents follow the same rules as humans</a:t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548650" y="4297677"/>
            <a:ext cx="3474600" cy="17019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731520" y="4480550"/>
            <a:ext cx="502800" cy="50280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731520" y="5074910"/>
            <a:ext cx="310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Outcome-Aligned</a:t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731520" y="5394950"/>
            <a:ext cx="310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Free core software; revenue from 1% payment processing + platform referral commission</a:t>
            </a: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4251950" y="4297677"/>
            <a:ext cx="3474600" cy="17019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4434840" y="4480550"/>
            <a:ext cx="502800" cy="50280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4434840" y="5074910"/>
            <a:ext cx="310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Global by Design</a:t>
            </a:r>
            <a:endParaRPr/>
          </a:p>
        </p:txBody>
      </p:sp>
      <p:sp>
        <p:nvSpPr>
          <p:cNvPr id="212" name="Google Shape;212;p5"/>
          <p:cNvSpPr txBox="1"/>
          <p:nvPr/>
        </p:nvSpPr>
        <p:spPr>
          <a:xfrm>
            <a:off x="4434840" y="5394950"/>
            <a:ext cx="310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Multi-currency, multi-timezone, GDPR/CCPA compliant, offline payment as first-class path</a:t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7955275" y="4297677"/>
            <a:ext cx="3474600" cy="17019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8138160" y="4480550"/>
            <a:ext cx="502800" cy="50280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/>
          </a:p>
        </p:txBody>
      </p:sp>
      <p:sp>
        <p:nvSpPr>
          <p:cNvPr id="215" name="Google Shape;215;p5"/>
          <p:cNvSpPr txBox="1"/>
          <p:nvPr/>
        </p:nvSpPr>
        <p:spPr>
          <a:xfrm>
            <a:off x="8138160" y="5074910"/>
            <a:ext cx="310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Secure Multi-Tenant</a:t>
            </a:r>
            <a:endParaRPr/>
          </a:p>
        </p:txBody>
      </p:sp>
      <p:sp>
        <p:nvSpPr>
          <p:cNvPr id="216" name="Google Shape;216;p5"/>
          <p:cNvSpPr txBox="1"/>
          <p:nvPr/>
        </p:nvSpPr>
        <p:spPr>
          <a:xfrm>
            <a:off x="8138160" y="5394950"/>
            <a:ext cx="310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PostgreSQL RLS + application middleware -- zero cross-tenant data leakage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 Market</a:t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67M+ addressable businesses globally -- and growing</a:t>
            </a:r>
            <a:endParaRPr/>
          </a:p>
        </p:txBody>
      </p:sp>
      <p:graphicFrame>
        <p:nvGraphicFramePr>
          <p:cNvPr id="224" name="Google Shape;224;p6"/>
          <p:cNvGraphicFramePr/>
          <p:nvPr/>
        </p:nvGraphicFramePr>
        <p:xfrm>
          <a:off x="731520" y="16459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{36BB4BFD-88E4-4783-9C64-90CA04ADB2B8}</a:tableStyleId>
              </a:tblPr>
              <a:tblGrid>
                <a:gridCol w="2560325"/>
                <a:gridCol w="3200400"/>
                <a:gridCol w="2286000"/>
                <a:gridCol w="24688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Segment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Est. Businesses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Priority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Individual Providers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Photographers, consultants,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trainers, tutors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~50M globally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 1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Businesses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Salons, spas, fitness studios,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dental clinics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~15M globally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 1-2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Event Venues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Wedding venues, conference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centers, banquet halls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~2M globally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 3+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Co-working &amp; Rentals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Desks, meeting rooms,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studio rentals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~500K globally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 4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AI-Enabled New Business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Solo practitioners,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creators monetizing services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Expanding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 1+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  <p:sp>
        <p:nvSpPr>
          <p:cNvPr id="225" name="Google Shape;225;p6"/>
          <p:cNvSpPr/>
          <p:nvPr/>
        </p:nvSpPr>
        <p:spPr>
          <a:xfrm>
            <a:off x="731520" y="5303520"/>
            <a:ext cx="10515600" cy="109728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731520" y="5303520"/>
            <a:ext cx="73152" cy="109728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1005840" y="5394960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CORE MARKET THESIS: GREENFIELD &gt; CONVERSION</a:t>
            </a:r>
            <a:endParaRPr/>
          </a:p>
        </p:txBody>
      </p:sp>
      <p:sp>
        <p:nvSpPr>
          <p:cNvPr id="228" name="Google Shape;228;p6"/>
          <p:cNvSpPr txBox="1"/>
          <p:nvPr/>
        </p:nvSpPr>
        <p:spPr>
          <a:xfrm>
            <a:off x="1005840" y="5760720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AI tooling is expanding the population of service businesses. New businesses are easier to win than existing ones -- they have no incumbent to displace, AI-native expectations, and zero-friction price sensitivity. SavSpot is positioned to be the default choice.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Personas</a:t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Four distinct personas spanning greenfield and conversion markets</a:t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548640" y="1554480"/>
            <a:ext cx="5349240" cy="201168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548640" y="1554480"/>
            <a:ext cx="534924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 txBox="1"/>
          <p:nvPr/>
        </p:nvSpPr>
        <p:spPr>
          <a:xfrm>
            <a:off x="777240" y="16916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Maria</a:t>
            </a:r>
            <a:endParaRPr/>
          </a:p>
        </p:txBody>
      </p:sp>
      <p:sp>
        <p:nvSpPr>
          <p:cNvPr id="239" name="Google Shape;239;p7"/>
          <p:cNvSpPr txBox="1"/>
          <p:nvPr/>
        </p:nvSpPr>
        <p:spPr>
          <a:xfrm>
            <a:off x="2377440" y="17373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38, Venue Owner</a:t>
            </a:r>
            <a:endParaRPr/>
          </a:p>
        </p:txBody>
      </p:sp>
      <p:sp>
        <p:nvSpPr>
          <p:cNvPr id="240" name="Google Shape;240;p7"/>
          <p:cNvSpPr txBox="1"/>
          <p:nvPr/>
        </p:nvSpPr>
        <p:spPr>
          <a:xfrm>
            <a:off x="777240" y="210312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PAIN</a:t>
            </a:r>
            <a:endParaRPr/>
          </a:p>
        </p:txBody>
      </p:sp>
      <p:sp>
        <p:nvSpPr>
          <p:cNvPr id="241" name="Google Shape;241;p7"/>
          <p:cNvSpPr txBox="1"/>
          <p:nvPr/>
        </p:nvSpPr>
        <p:spPr>
          <a:xfrm>
            <a:off x="777240" y="2331720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3+ hrs/day on manual inquiries, quotes, contracts</a:t>
            </a:r>
            <a:endParaRPr/>
          </a:p>
        </p:txBody>
      </p:sp>
      <p:sp>
        <p:nvSpPr>
          <p:cNvPr id="242" name="Google Shape;242;p7"/>
          <p:cNvSpPr txBox="1"/>
          <p:nvPr/>
        </p:nvSpPr>
        <p:spPr>
          <a:xfrm>
            <a:off x="777240" y="278892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/>
          </a:p>
        </p:txBody>
      </p:sp>
      <p:sp>
        <p:nvSpPr>
          <p:cNvPr id="243" name="Google Shape;243;p7"/>
          <p:cNvSpPr txBox="1"/>
          <p:nvPr/>
        </p:nvSpPr>
        <p:spPr>
          <a:xfrm>
            <a:off x="777240" y="3017520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Automate booking pipeline with shareable link</a:t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6172200" y="1554480"/>
            <a:ext cx="5349240" cy="201168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6172200" y="1554480"/>
            <a:ext cx="534924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6400800" y="16916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James</a:t>
            </a:r>
            <a:endParaRPr/>
          </a:p>
        </p:txBody>
      </p:sp>
      <p:sp>
        <p:nvSpPr>
          <p:cNvPr id="247" name="Google Shape;247;p7"/>
          <p:cNvSpPr txBox="1"/>
          <p:nvPr/>
        </p:nvSpPr>
        <p:spPr>
          <a:xfrm>
            <a:off x="8001000" y="17373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29, Photographer</a:t>
            </a:r>
            <a:endParaRPr/>
          </a:p>
        </p:txBody>
      </p:sp>
      <p:sp>
        <p:nvSpPr>
          <p:cNvPr id="248" name="Google Shape;248;p7"/>
          <p:cNvSpPr txBox="1"/>
          <p:nvPr/>
        </p:nvSpPr>
        <p:spPr>
          <a:xfrm>
            <a:off x="6400800" y="210312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PAIN</a:t>
            </a:r>
            <a:endParaRPr/>
          </a:p>
        </p:txBody>
      </p:sp>
      <p:sp>
        <p:nvSpPr>
          <p:cNvPr id="249" name="Google Shape;249;p7"/>
          <p:cNvSpPr txBox="1"/>
          <p:nvPr/>
        </p:nvSpPr>
        <p:spPr>
          <a:xfrm>
            <a:off x="6400800" y="2331720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Manages bookings via DMs and spreadsheets, loses deposits</a:t>
            </a:r>
            <a:endParaRPr/>
          </a:p>
        </p:txBody>
      </p:sp>
      <p:sp>
        <p:nvSpPr>
          <p:cNvPr id="250" name="Google Shape;250;p7"/>
          <p:cNvSpPr txBox="1"/>
          <p:nvPr/>
        </p:nvSpPr>
        <p:spPr>
          <a:xfrm>
            <a:off x="6400800" y="278892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/>
          </a:p>
        </p:txBody>
      </p:sp>
      <p:sp>
        <p:nvSpPr>
          <p:cNvPr id="251" name="Google Shape;251;p7"/>
          <p:cNvSpPr txBox="1"/>
          <p:nvPr/>
        </p:nvSpPr>
        <p:spPr>
          <a:xfrm>
            <a:off x="6400800" y="3017520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Professional booking page, auto payment collection</a:t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548640" y="3749040"/>
            <a:ext cx="5349240" cy="201168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548640" y="3749040"/>
            <a:ext cx="534924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 txBox="1"/>
          <p:nvPr/>
        </p:nvSpPr>
        <p:spPr>
          <a:xfrm>
            <a:off x="777240" y="38862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Marcus</a:t>
            </a:r>
            <a:endParaRPr/>
          </a:p>
        </p:txBody>
      </p:sp>
      <p:sp>
        <p:nvSpPr>
          <p:cNvPr id="255" name="Google Shape;255;p7"/>
          <p:cNvSpPr txBox="1"/>
          <p:nvPr/>
        </p:nvSpPr>
        <p:spPr>
          <a:xfrm>
            <a:off x="2377440" y="39319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32, Barber</a:t>
            </a:r>
            <a:endParaRPr/>
          </a:p>
        </p:txBody>
      </p:sp>
      <p:sp>
        <p:nvSpPr>
          <p:cNvPr id="256" name="Google Shape;256;p7"/>
          <p:cNvSpPr txBox="1"/>
          <p:nvPr/>
        </p:nvSpPr>
        <p:spPr>
          <a:xfrm>
            <a:off x="777240" y="429768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PAIN</a:t>
            </a:r>
            <a:endParaRPr/>
          </a:p>
        </p:txBody>
      </p:sp>
      <p:sp>
        <p:nvSpPr>
          <p:cNvPr id="257" name="Google Shape;257;p7"/>
          <p:cNvSpPr txBox="1"/>
          <p:nvPr/>
        </p:nvSpPr>
        <p:spPr>
          <a:xfrm>
            <a:off x="777240" y="4526280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Frustrated with Booksy's closed ecosystem, no client preference tracking</a:t>
            </a:r>
            <a:endParaRPr/>
          </a:p>
        </p:txBody>
      </p:sp>
      <p:sp>
        <p:nvSpPr>
          <p:cNvPr id="258" name="Google Shape;258;p7"/>
          <p:cNvSpPr txBox="1"/>
          <p:nvPr/>
        </p:nvSpPr>
        <p:spPr>
          <a:xfrm>
            <a:off x="777240" y="498348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/>
          </a:p>
        </p:txBody>
      </p:sp>
      <p:sp>
        <p:nvSpPr>
          <p:cNvPr id="259" name="Google Shape;259;p7"/>
          <p:cNvSpPr txBox="1"/>
          <p:nvPr/>
        </p:nvSpPr>
        <p:spPr>
          <a:xfrm>
            <a:off x="777240" y="5212080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Run SavSpot alongside Booksy, compare, eventually switch</a:t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6172200" y="3749040"/>
            <a:ext cx="5349240" cy="201168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6172200" y="3749040"/>
            <a:ext cx="534924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 txBox="1"/>
          <p:nvPr/>
        </p:nvSpPr>
        <p:spPr>
          <a:xfrm>
            <a:off x="6400800" y="38862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Priya</a:t>
            </a:r>
            <a:endParaRPr/>
          </a:p>
        </p:txBody>
      </p:sp>
      <p:sp>
        <p:nvSpPr>
          <p:cNvPr id="263" name="Google Shape;263;p7"/>
          <p:cNvSpPr txBox="1"/>
          <p:nvPr/>
        </p:nvSpPr>
        <p:spPr>
          <a:xfrm>
            <a:off x="8001000" y="39319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26, AI-Enabled New Owner</a:t>
            </a:r>
            <a:endParaRPr/>
          </a:p>
        </p:txBody>
      </p:sp>
      <p:sp>
        <p:nvSpPr>
          <p:cNvPr id="264" name="Google Shape;264;p7"/>
          <p:cNvSpPr txBox="1"/>
          <p:nvPr/>
        </p:nvSpPr>
        <p:spPr>
          <a:xfrm>
            <a:off x="6400800" y="429768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PAIN</a:t>
            </a:r>
            <a:endParaRPr/>
          </a:p>
        </p:txBody>
      </p:sp>
      <p:sp>
        <p:nvSpPr>
          <p:cNvPr id="265" name="Google Shape;265;p7"/>
          <p:cNvSpPr txBox="1"/>
          <p:nvPr/>
        </p:nvSpPr>
        <p:spPr>
          <a:xfrm>
            <a:off x="6400800" y="4526280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Just launched freelance design consultancy using AI tools</a:t>
            </a:r>
            <a:endParaRPr/>
          </a:p>
        </p:txBody>
      </p:sp>
      <p:sp>
        <p:nvSpPr>
          <p:cNvPr id="266" name="Google Shape;266;p7"/>
          <p:cNvSpPr txBox="1"/>
          <p:nvPr/>
        </p:nvSpPr>
        <p:spPr>
          <a:xfrm>
            <a:off x="6400800" y="498348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>
            <a:off x="6400800" y="5212080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Zero-friction setup that matches the speed AI helped her start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Competitive Landscape</a:t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SavSpot is the only free, universal, AI-ready booking platform</a:t>
            </a:r>
            <a:endParaRPr/>
          </a:p>
        </p:txBody>
      </p:sp>
      <p:graphicFrame>
        <p:nvGraphicFramePr>
          <p:cNvPr id="275" name="Google Shape;275;p8"/>
          <p:cNvGraphicFramePr/>
          <p:nvPr/>
        </p:nvGraphicFramePr>
        <p:xfrm>
          <a:off x="731520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{36BB4BFD-88E4-4783-9C64-90CA04ADB2B8}</a:tableStyleId>
              </a:tblPr>
              <a:tblGrid>
                <a:gridCol w="1828800"/>
                <a:gridCol w="2103125"/>
                <a:gridCol w="1645925"/>
                <a:gridCol w="1828800"/>
                <a:gridCol w="1554475"/>
                <a:gridCol w="15544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Platform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Pricing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AI-Ready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Universal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Free Core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Offline Pay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SavSpot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Free + 1% txn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 (MCP)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Fresha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Free + 20% comm.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Beauty only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Mindbody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$139-$699/mo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Limited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Fitness only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Calendly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Free-$20/seat/mo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Meetings only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SimplyBook.me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$9.90-$59.90/mo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General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Square Appts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Free + 2.6%/txn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General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Acuity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Free-$36/mo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General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 Key Differentiators</a:t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457200" y="1463040"/>
            <a:ext cx="2560320" cy="164592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594360" y="160020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4" name="Google Shape;284;p9"/>
          <p:cNvSpPr txBox="1"/>
          <p:nvPr/>
        </p:nvSpPr>
        <p:spPr>
          <a:xfrm>
            <a:off x="1051560" y="16002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AI-Agent-First</a:t>
            </a:r>
            <a:endParaRPr/>
          </a:p>
        </p:txBody>
      </p:sp>
      <p:sp>
        <p:nvSpPr>
          <p:cNvPr id="285" name="Google Shape;285;p9"/>
          <p:cNvSpPr txBox="1"/>
          <p:nvPr/>
        </p:nvSpPr>
        <p:spPr>
          <a:xfrm>
            <a:off x="594360" y="205740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MCP + structured APIs from day one;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agents follow same business rules as humans</a:t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3200400" y="1463040"/>
            <a:ext cx="2560320" cy="164592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3337560" y="16002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88" name="Google Shape;288;p9"/>
          <p:cNvSpPr txBox="1"/>
          <p:nvPr/>
        </p:nvSpPr>
        <p:spPr>
          <a:xfrm>
            <a:off x="3794760" y="16002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Universal Engine</a:t>
            </a:r>
            <a:endParaRPr/>
          </a:p>
        </p:txBody>
      </p:sp>
      <p:sp>
        <p:nvSpPr>
          <p:cNvPr id="289" name="Google Shape;289;p9"/>
          <p:cNvSpPr txBox="1"/>
          <p:nvPr/>
        </p:nvSpPr>
        <p:spPr>
          <a:xfrm>
            <a:off x="3337560" y="205740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All businesses, not niche-locked;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salons to venues to photographers</a:t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5943600" y="1463040"/>
            <a:ext cx="2560320" cy="164592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6080760" y="160020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92" name="Google Shape;292;p9"/>
          <p:cNvSpPr txBox="1"/>
          <p:nvPr/>
        </p:nvSpPr>
        <p:spPr>
          <a:xfrm>
            <a:off x="6537960" y="16002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Progressive Complexity</a:t>
            </a:r>
            <a:endParaRPr/>
          </a:p>
        </p:txBody>
      </p:sp>
      <p:sp>
        <p:nvSpPr>
          <p:cNvPr id="293" name="Google Shape;293;p9"/>
          <p:cNvSpPr txBox="1"/>
          <p:nvPr/>
        </p:nvSpPr>
        <p:spPr>
          <a:xfrm>
            <a:off x="6080760" y="205740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Zero-config for freelancers, full-featured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for venues; complexity scales with need</a:t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8686800" y="1463040"/>
            <a:ext cx="2560320" cy="164592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8823960" y="16002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96" name="Google Shape;296;p9"/>
          <p:cNvSpPr txBox="1"/>
          <p:nvPr/>
        </p:nvSpPr>
        <p:spPr>
          <a:xfrm>
            <a:off x="9281160" y="16002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Outcome-Aligned Revenue</a:t>
            </a:r>
            <a:endParaRPr/>
          </a:p>
        </p:txBody>
      </p:sp>
      <p:sp>
        <p:nvSpPr>
          <p:cNvPr id="297" name="Google Shape;297;p9"/>
          <p:cNvSpPr txBox="1"/>
          <p:nvPr/>
        </p:nvSpPr>
        <p:spPr>
          <a:xfrm>
            <a:off x="8823960" y="205740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Revenue from transaction fees, not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subscriptions; zero upfront cost</a:t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457200" y="3291840"/>
            <a:ext cx="2560320" cy="164592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594360" y="342900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00" name="Google Shape;300;p9"/>
          <p:cNvSpPr txBox="1"/>
          <p:nvPr/>
        </p:nvSpPr>
        <p:spPr>
          <a:xfrm>
            <a:off x="1051560" y="34290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Greenfield-Ready</a:t>
            </a:r>
            <a:endParaRPr/>
          </a:p>
        </p:txBody>
      </p:sp>
      <p:sp>
        <p:nvSpPr>
          <p:cNvPr id="301" name="Google Shape;301;p9"/>
          <p:cNvSpPr txBox="1"/>
          <p:nvPr/>
        </p:nvSpPr>
        <p:spPr>
          <a:xfrm>
            <a:off x="594360" y="388620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&lt;5 min to live booking page;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designed for first-time business owners</a:t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3200400" y="3291840"/>
            <a:ext cx="2560320" cy="164592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3337560" y="34290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04" name="Google Shape;304;p9"/>
          <p:cNvSpPr txBox="1"/>
          <p:nvPr/>
        </p:nvSpPr>
        <p:spPr>
          <a:xfrm>
            <a:off x="3794760" y="34290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Payment Abstraction</a:t>
            </a:r>
            <a:endParaRPr/>
          </a:p>
        </p:txBody>
      </p:sp>
      <p:sp>
        <p:nvSpPr>
          <p:cNvPr id="305" name="Google Shape;305;p9"/>
          <p:cNvSpPr txBox="1"/>
          <p:nvPr/>
        </p:nvSpPr>
        <p:spPr>
          <a:xfrm>
            <a:off x="3337560" y="388620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Provider-agnostic; Stripe Phase 1,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Adyen/PayPal Phase 3, offline always</a:t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5943600" y="3291840"/>
            <a:ext cx="2560320" cy="164592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6080760" y="342900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08" name="Google Shape;308;p9"/>
          <p:cNvSpPr txBox="1"/>
          <p:nvPr/>
        </p:nvSpPr>
        <p:spPr>
          <a:xfrm>
            <a:off x="6537960" y="34290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Multi-Tenant by Design</a:t>
            </a:r>
            <a:endParaRPr/>
          </a:p>
        </p:txBody>
      </p:sp>
      <p:sp>
        <p:nvSpPr>
          <p:cNvPr id="309" name="Google Shape;309;p9"/>
          <p:cNvSpPr txBox="1"/>
          <p:nvPr/>
        </p:nvSpPr>
        <p:spPr>
          <a:xfrm>
            <a:off x="6080760" y="388620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Shared infra, isolated data via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PostgreSQL RLS + app middleware</a:t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8686800" y="3291840"/>
            <a:ext cx="2560320" cy="164592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8823960" y="34290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12" name="Google Shape;312;p9"/>
          <p:cNvSpPr txBox="1"/>
          <p:nvPr/>
        </p:nvSpPr>
        <p:spPr>
          <a:xfrm>
            <a:off x="9281160" y="34290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Lifecycle</a:t>
            </a:r>
            <a:endParaRPr/>
          </a:p>
        </p:txBody>
      </p:sp>
      <p:sp>
        <p:nvSpPr>
          <p:cNvPr id="313" name="Google Shape;313;p9"/>
          <p:cNvSpPr txBox="1"/>
          <p:nvPr/>
        </p:nvSpPr>
        <p:spPr>
          <a:xfrm>
            <a:off x="8823960" y="388620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Booking &gt; Payment &gt; Contracts &gt; Comms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&gt; CRM &gt; Analytics in one platform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0"/>
          <p:cNvSpPr/>
          <p:nvPr/>
        </p:nvSpPr>
        <p:spPr>
          <a:xfrm>
            <a:off x="731520" y="228600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19" name="Google Shape;319;p10"/>
          <p:cNvSpPr txBox="1"/>
          <p:nvPr/>
        </p:nvSpPr>
        <p:spPr>
          <a:xfrm>
            <a:off x="2011680" y="21031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Model</a:t>
            </a:r>
            <a:endParaRPr/>
          </a:p>
        </p:txBody>
      </p:sp>
      <p:sp>
        <p:nvSpPr>
          <p:cNvPr id="320" name="Google Shape;320;p10"/>
          <p:cNvSpPr txBox="1"/>
          <p:nvPr/>
        </p:nvSpPr>
        <p:spPr>
          <a:xfrm>
            <a:off x="2011680" y="30175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Revenue streams, pricing tiers, and unit economics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 Model</a:t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Three streams aligned with business outcomes -- earn when they earn</a:t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548640" y="1554480"/>
            <a:ext cx="3474720" cy="32004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548640" y="1554480"/>
            <a:ext cx="3474720" cy="635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 txBox="1"/>
          <p:nvPr/>
        </p:nvSpPr>
        <p:spPr>
          <a:xfrm>
            <a:off x="731520" y="17373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Payment Processing</a:t>
            </a:r>
            <a:endParaRPr/>
          </a:p>
        </p:txBody>
      </p:sp>
      <p:sp>
        <p:nvSpPr>
          <p:cNvPr id="331" name="Google Shape;331;p11"/>
          <p:cNvSpPr txBox="1"/>
          <p:nvPr/>
        </p:nvSpPr>
        <p:spPr>
          <a:xfrm>
            <a:off x="731520" y="219456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1.0% platform fee on all</a:t>
            </a:r>
            <a:b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SavSpot Pay transactions</a:t>
            </a:r>
            <a:endParaRPr/>
          </a:p>
        </p:txBody>
      </p:sp>
      <p:sp>
        <p:nvSpPr>
          <p:cNvPr id="332" name="Google Shape;332;p11"/>
          <p:cNvSpPr txBox="1"/>
          <p:nvPr/>
        </p:nvSpPr>
        <p:spPr>
          <a:xfrm>
            <a:off x="731520" y="292608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On top of Stripe's standard fee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(~2.9% + $0.30 US). Collected via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application_fee_amount.</a:t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731520" y="4160520"/>
            <a:ext cx="3108960" cy="457200"/>
          </a:xfrm>
          <a:prstGeom prst="roundRect">
            <a:avLst>
              <a:gd fmla="val 4000" name="adj"/>
            </a:avLst>
          </a:prstGeom>
          <a:solidFill>
            <a:srgbClr val="1A25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 txBox="1"/>
          <p:nvPr/>
        </p:nvSpPr>
        <p:spPr>
          <a:xfrm>
            <a:off x="731520" y="42062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Every payment</a:t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4251960" y="1554480"/>
            <a:ext cx="3474720" cy="32004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4251960" y="1554480"/>
            <a:ext cx="347472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 txBox="1"/>
          <p:nvPr/>
        </p:nvSpPr>
        <p:spPr>
          <a:xfrm>
            <a:off x="4434840" y="17373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Platform Referral Commission</a:t>
            </a:r>
            <a:endParaRPr/>
          </a:p>
        </p:txBody>
      </p:sp>
      <p:sp>
        <p:nvSpPr>
          <p:cNvPr id="338" name="Google Shape;338;p11"/>
          <p:cNvSpPr txBox="1"/>
          <p:nvPr/>
        </p:nvSpPr>
        <p:spPr>
          <a:xfrm>
            <a:off x="4434840" y="219456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15-20% of first booking</a:t>
            </a:r>
            <a:b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(capped at $500)</a:t>
            </a:r>
            <a:endParaRPr/>
          </a:p>
        </p:txBody>
      </p:sp>
      <p:sp>
        <p:nvSpPr>
          <p:cNvPr id="339" name="Google Shape;339;p11"/>
          <p:cNvSpPr txBox="1"/>
          <p:nvPr/>
        </p:nvSpPr>
        <p:spPr>
          <a:xfrm>
            <a:off x="4434840" y="292608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One-time fee on bookings from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platform-sourced clients: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AI agents, directory, referrals.</a:t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4434840" y="4160520"/>
            <a:ext cx="3108960" cy="457200"/>
          </a:xfrm>
          <a:prstGeom prst="roundRect">
            <a:avLst>
              <a:gd fmla="val 4000" name="adj"/>
            </a:avLst>
          </a:prstGeom>
          <a:solidFill>
            <a:srgbClr val="1A25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 txBox="1"/>
          <p:nvPr/>
        </p:nvSpPr>
        <p:spPr>
          <a:xfrm>
            <a:off x="4434840" y="42062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First booking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from new client</a:t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7955280" y="1554480"/>
            <a:ext cx="3474720" cy="32004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7955280" y="1554480"/>
            <a:ext cx="3474720" cy="635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 txBox="1"/>
          <p:nvPr/>
        </p:nvSpPr>
        <p:spPr>
          <a:xfrm>
            <a:off x="8138160" y="17373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Premium Features</a:t>
            </a:r>
            <a:endParaRPr/>
          </a:p>
        </p:txBody>
      </p:sp>
      <p:sp>
        <p:nvSpPr>
          <p:cNvPr id="345" name="Google Shape;345;p11"/>
          <p:cNvSpPr txBox="1"/>
          <p:nvPr/>
        </p:nvSpPr>
        <p:spPr>
          <a:xfrm>
            <a:off x="8138160" y="219456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$9-$49/mo per feature</a:t>
            </a:r>
            <a:endParaRPr/>
          </a:p>
        </p:txBody>
      </p:sp>
      <p:sp>
        <p:nvSpPr>
          <p:cNvPr id="346" name="Google Shape;346;p11"/>
          <p:cNvSpPr txBox="1"/>
          <p:nvPr/>
        </p:nvSpPr>
        <p:spPr>
          <a:xfrm>
            <a:off x="8138160" y="292608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Advanced widget, custom domain,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advanced analytics, workflow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automation, API access, accounting.</a:t>
            </a:r>
            <a:endParaRPr/>
          </a:p>
        </p:txBody>
      </p:sp>
      <p:sp>
        <p:nvSpPr>
          <p:cNvPr id="347" name="Google Shape;347;p11"/>
          <p:cNvSpPr/>
          <p:nvPr/>
        </p:nvSpPr>
        <p:spPr>
          <a:xfrm>
            <a:off x="8138160" y="4160520"/>
            <a:ext cx="3108960" cy="457200"/>
          </a:xfrm>
          <a:prstGeom prst="roundRect">
            <a:avLst>
              <a:gd fmla="val 4000" name="adj"/>
            </a:avLst>
          </a:prstGeom>
          <a:solidFill>
            <a:srgbClr val="1A25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 txBox="1"/>
          <p:nvPr/>
        </p:nvSpPr>
        <p:spPr>
          <a:xfrm>
            <a:off x="8138160" y="42062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Monthly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subscription</a:t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548640" y="5212080"/>
            <a:ext cx="10698480" cy="109728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548640" y="5212080"/>
            <a:ext cx="73152" cy="109728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 txBox="1"/>
          <p:nvPr/>
        </p:nvSpPr>
        <p:spPr>
          <a:xfrm>
            <a:off x="822960" y="530352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REVENUE ARITHMETIC</a:t>
            </a:r>
            <a:endParaRPr/>
          </a:p>
        </p:txBody>
      </p:sp>
      <p:sp>
        <p:nvSpPr>
          <p:cNvPr id="352" name="Google Shape;352;p11"/>
          <p:cNvSpPr txBox="1"/>
          <p:nvPr/>
        </p:nvSpPr>
        <p:spPr>
          <a:xfrm>
            <a:off x="822960" y="5623560"/>
            <a:ext cx="10241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Year 1 base case: $37-54K ($20K processing on $2M GMV + $12-24K premium subscriptions + $5-10K referral). Stretch target: $100K requires &gt;10% premium conversion or &gt;$2M GMV. Positive unit economics at ~$3K/month against bootstrap infrastructure costs.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Subscription Tiers</a:t>
            </a:r>
            <a:endParaRPr/>
          </a:p>
        </p:txBody>
      </p:sp>
      <p:sp>
        <p:nvSpPr>
          <p:cNvPr id="358" name="Google Shape;358;p1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548640" y="1463040"/>
            <a:ext cx="3474720" cy="475488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548640" y="1463040"/>
            <a:ext cx="3474720" cy="635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 txBox="1"/>
          <p:nvPr/>
        </p:nvSpPr>
        <p:spPr>
          <a:xfrm>
            <a:off x="548640" y="16002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/>
          </a:p>
        </p:txBody>
      </p:sp>
      <p:sp>
        <p:nvSpPr>
          <p:cNvPr id="362" name="Google Shape;362;p12"/>
          <p:cNvSpPr txBox="1"/>
          <p:nvPr/>
        </p:nvSpPr>
        <p:spPr>
          <a:xfrm>
            <a:off x="548640" y="19202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$0</a:t>
            </a:r>
            <a:endParaRPr/>
          </a:p>
        </p:txBody>
      </p:sp>
      <p:sp>
        <p:nvSpPr>
          <p:cNvPr id="363" name="Google Shape;363;p12"/>
          <p:cNvSpPr txBox="1"/>
          <p:nvPr/>
        </p:nvSpPr>
        <p:spPr>
          <a:xfrm>
            <a:off x="548640" y="23317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forever</a:t>
            </a: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822960" y="2651760"/>
            <a:ext cx="2926080" cy="38100"/>
          </a:xfrm>
          <a:prstGeom prst="rect">
            <a:avLst/>
          </a:prstGeom>
          <a:solidFill>
            <a:srgbClr val="33405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 txBox="1"/>
          <p:nvPr/>
        </p:nvSpPr>
        <p:spPr>
          <a:xfrm>
            <a:off x="777240" y="2788920"/>
            <a:ext cx="3017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Booking page (savspot.co/{slug})</a:t>
            </a:r>
            <a:endParaRPr/>
          </a:p>
        </p:txBody>
      </p:sp>
      <p:sp>
        <p:nvSpPr>
          <p:cNvPr id="366" name="Google Shape;366;p12"/>
          <p:cNvSpPr txBox="1"/>
          <p:nvPr/>
        </p:nvSpPr>
        <p:spPr>
          <a:xfrm>
            <a:off x="777240" y="31089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Full CRM with client management</a:t>
            </a:r>
            <a:endParaRPr/>
          </a:p>
        </p:txBody>
      </p:sp>
      <p:sp>
        <p:nvSpPr>
          <p:cNvPr id="367" name="Google Shape;367;p12"/>
          <p:cNvSpPr txBox="1"/>
          <p:nvPr/>
        </p:nvSpPr>
        <p:spPr>
          <a:xfrm>
            <a:off x="777240" y="34290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Client portal</a:t>
            </a:r>
            <a:endParaRPr/>
          </a:p>
        </p:txBody>
      </p:sp>
      <p:sp>
        <p:nvSpPr>
          <p:cNvPr id="368" name="Google Shape;368;p12"/>
          <p:cNvSpPr txBox="1"/>
          <p:nvPr/>
        </p:nvSpPr>
        <p:spPr>
          <a:xfrm>
            <a:off x="777240" y="37490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One-way calendar sync</a:t>
            </a:r>
            <a:endParaRPr/>
          </a:p>
        </p:txBody>
      </p:sp>
      <p:sp>
        <p:nvSpPr>
          <p:cNvPr id="369" name="Google Shape;369;p12"/>
          <p:cNvSpPr txBox="1"/>
          <p:nvPr/>
        </p:nvSpPr>
        <p:spPr>
          <a:xfrm>
            <a:off x="777240" y="40690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Basic metrics dashboard</a:t>
            </a:r>
            <a:endParaRPr/>
          </a:p>
        </p:txBody>
      </p:sp>
      <p:sp>
        <p:nvSpPr>
          <p:cNvPr id="370" name="Google Shape;370;p12"/>
          <p:cNvSpPr txBox="1"/>
          <p:nvPr/>
        </p:nvSpPr>
        <p:spPr>
          <a:xfrm>
            <a:off x="777240" y="43891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Basic embed widget (redirect mode)</a:t>
            </a:r>
            <a:endParaRPr/>
          </a:p>
        </p:txBody>
      </p:sp>
      <p:sp>
        <p:nvSpPr>
          <p:cNvPr id="371" name="Google Shape;371;p12"/>
          <p:cNvSpPr txBox="1"/>
          <p:nvPr/>
        </p:nvSpPr>
        <p:spPr>
          <a:xfrm>
            <a:off x="777240" y="47091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Transactional email (confirmation, reminders)</a:t>
            </a:r>
            <a:endParaRPr/>
          </a:p>
        </p:txBody>
      </p:sp>
      <p:sp>
        <p:nvSpPr>
          <p:cNvPr id="372" name="Google Shape;372;p12"/>
          <p:cNvSpPr txBox="1"/>
          <p:nvPr/>
        </p:nvSpPr>
        <p:spPr>
          <a:xfrm>
            <a:off x="777240" y="50292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Walk-in booking management</a:t>
            </a:r>
            <a:endParaRPr/>
          </a:p>
        </p:txBody>
      </p:sp>
      <p:sp>
        <p:nvSpPr>
          <p:cNvPr id="373" name="Google Shape;373;p12"/>
          <p:cNvSpPr txBox="1"/>
          <p:nvPr/>
        </p:nvSpPr>
        <p:spPr>
          <a:xfrm>
            <a:off x="777240" y="53492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Browser push notifications</a:t>
            </a:r>
            <a:endParaRPr/>
          </a:p>
        </p:txBody>
      </p:sp>
      <p:sp>
        <p:nvSpPr>
          <p:cNvPr id="374" name="Google Shape;374;p12"/>
          <p:cNvSpPr/>
          <p:nvPr/>
        </p:nvSpPr>
        <p:spPr>
          <a:xfrm>
            <a:off x="4251960" y="1463040"/>
            <a:ext cx="3474720" cy="475488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4251960" y="1463040"/>
            <a:ext cx="347472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 txBox="1"/>
          <p:nvPr/>
        </p:nvSpPr>
        <p:spPr>
          <a:xfrm>
            <a:off x="4251960" y="16002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PREMIUM</a:t>
            </a:r>
            <a:endParaRPr/>
          </a:p>
        </p:txBody>
      </p:sp>
      <p:sp>
        <p:nvSpPr>
          <p:cNvPr id="377" name="Google Shape;377;p12"/>
          <p:cNvSpPr txBox="1"/>
          <p:nvPr/>
        </p:nvSpPr>
        <p:spPr>
          <a:xfrm>
            <a:off x="4251960" y="19202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$9-49</a:t>
            </a:r>
            <a:endParaRPr/>
          </a:p>
        </p:txBody>
      </p:sp>
      <p:sp>
        <p:nvSpPr>
          <p:cNvPr id="378" name="Google Shape;378;p12"/>
          <p:cNvSpPr txBox="1"/>
          <p:nvPr/>
        </p:nvSpPr>
        <p:spPr>
          <a:xfrm>
            <a:off x="4251960" y="23317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/mo per feature</a:t>
            </a: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4526280" y="2651760"/>
            <a:ext cx="2926080" cy="38100"/>
          </a:xfrm>
          <a:prstGeom prst="rect">
            <a:avLst/>
          </a:prstGeom>
          <a:solidFill>
            <a:srgbClr val="33405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 txBox="1"/>
          <p:nvPr/>
        </p:nvSpPr>
        <p:spPr>
          <a:xfrm>
            <a:off x="4480560" y="27889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Embeddable widget (inline/popup modes)</a:t>
            </a:r>
            <a:endParaRPr/>
          </a:p>
        </p:txBody>
      </p:sp>
      <p:sp>
        <p:nvSpPr>
          <p:cNvPr id="381" name="Google Shape;381;p12"/>
          <p:cNvSpPr txBox="1"/>
          <p:nvPr/>
        </p:nvSpPr>
        <p:spPr>
          <a:xfrm>
            <a:off x="4480560" y="31089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Custom domain booking page</a:t>
            </a:r>
            <a:endParaRPr/>
          </a:p>
        </p:txBody>
      </p:sp>
      <p:sp>
        <p:nvSpPr>
          <p:cNvPr id="382" name="Google Shape;382;p12"/>
          <p:cNvSpPr txBox="1"/>
          <p:nvPr/>
        </p:nvSpPr>
        <p:spPr>
          <a:xfrm>
            <a:off x="4480560" y="34290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Advanced analytics &amp; reporting</a:t>
            </a:r>
            <a:endParaRPr/>
          </a:p>
        </p:txBody>
      </p:sp>
      <p:sp>
        <p:nvSpPr>
          <p:cNvPr id="383" name="Google Shape;383;p12"/>
          <p:cNvSpPr txBox="1"/>
          <p:nvPr/>
        </p:nvSpPr>
        <p:spPr>
          <a:xfrm>
            <a:off x="4480560" y="37490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Multi-stage workflow automation</a:t>
            </a:r>
            <a:endParaRPr/>
          </a:p>
        </p:txBody>
      </p:sp>
      <p:sp>
        <p:nvSpPr>
          <p:cNvPr id="384" name="Google Shape;384;p12"/>
          <p:cNvSpPr txBox="1"/>
          <p:nvPr/>
        </p:nvSpPr>
        <p:spPr>
          <a:xfrm>
            <a:off x="4480560" y="40690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API access (headless booking engine)</a:t>
            </a:r>
            <a:endParaRPr/>
          </a:p>
        </p:txBody>
      </p:sp>
      <p:sp>
        <p:nvSpPr>
          <p:cNvPr id="385" name="Google Shape;385;p12"/>
          <p:cNvSpPr txBox="1"/>
          <p:nvPr/>
        </p:nvSpPr>
        <p:spPr>
          <a:xfrm>
            <a:off x="4480560" y="43891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QuickBooks / Xero integration</a:t>
            </a:r>
            <a:endParaRPr/>
          </a:p>
        </p:txBody>
      </p:sp>
      <p:sp>
        <p:nvSpPr>
          <p:cNvPr id="386" name="Google Shape;386;p12"/>
          <p:cNvSpPr txBox="1"/>
          <p:nvPr/>
        </p:nvSpPr>
        <p:spPr>
          <a:xfrm>
            <a:off x="4480560" y="47091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Advanced template customization</a:t>
            </a:r>
            <a:endParaRPr/>
          </a:p>
        </p:txBody>
      </p:sp>
      <p:sp>
        <p:nvSpPr>
          <p:cNvPr id="387" name="Google Shape;387;p12"/>
          <p:cNvSpPr txBox="1"/>
          <p:nvPr/>
        </p:nvSpPr>
        <p:spPr>
          <a:xfrm>
            <a:off x="4480560" y="50292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Priority support</a:t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7955280" y="1463040"/>
            <a:ext cx="3474720" cy="475488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7955280" y="1463040"/>
            <a:ext cx="3474720" cy="635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 txBox="1"/>
          <p:nvPr/>
        </p:nvSpPr>
        <p:spPr>
          <a:xfrm>
            <a:off x="7955280" y="16002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</p:txBody>
      </p:sp>
      <p:sp>
        <p:nvSpPr>
          <p:cNvPr id="391" name="Google Shape;391;p12"/>
          <p:cNvSpPr txBox="1"/>
          <p:nvPr/>
        </p:nvSpPr>
        <p:spPr>
          <a:xfrm>
            <a:off x="7955280" y="19202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</a:t>
            </a:r>
            <a:endParaRPr/>
          </a:p>
        </p:txBody>
      </p:sp>
      <p:sp>
        <p:nvSpPr>
          <p:cNvPr id="392" name="Google Shape;392;p12"/>
          <p:cNvSpPr txBox="1"/>
          <p:nvPr/>
        </p:nvSpPr>
        <p:spPr>
          <a:xfrm>
            <a:off x="7955280" y="23317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pricing</a:t>
            </a: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8229600" y="2651760"/>
            <a:ext cx="2926080" cy="38100"/>
          </a:xfrm>
          <a:prstGeom prst="rect">
            <a:avLst/>
          </a:prstGeom>
          <a:solidFill>
            <a:srgbClr val="33405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 txBox="1"/>
          <p:nvPr/>
        </p:nvSpPr>
        <p:spPr>
          <a:xfrm>
            <a:off x="8183880" y="27889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Multi-location management</a:t>
            </a:r>
            <a:endParaRPr/>
          </a:p>
        </p:txBody>
      </p:sp>
      <p:sp>
        <p:nvSpPr>
          <p:cNvPr id="395" name="Google Shape;395;p12"/>
          <p:cNvSpPr txBox="1"/>
          <p:nvPr/>
        </p:nvSpPr>
        <p:spPr>
          <a:xfrm>
            <a:off x="8183880" y="31089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Dedicated support</a:t>
            </a:r>
            <a:endParaRPr/>
          </a:p>
        </p:txBody>
      </p:sp>
      <p:sp>
        <p:nvSpPr>
          <p:cNvPr id="396" name="Google Shape;396;p12"/>
          <p:cNvSpPr txBox="1"/>
          <p:nvPr/>
        </p:nvSpPr>
        <p:spPr>
          <a:xfrm>
            <a:off x="8183880" y="34290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Custom integrations</a:t>
            </a:r>
            <a:endParaRPr/>
          </a:p>
        </p:txBody>
      </p:sp>
      <p:sp>
        <p:nvSpPr>
          <p:cNvPr id="397" name="Google Shape;397;p12"/>
          <p:cNvSpPr txBox="1"/>
          <p:nvPr/>
        </p:nvSpPr>
        <p:spPr>
          <a:xfrm>
            <a:off x="8183880" y="37490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SLA guarantees</a:t>
            </a:r>
            <a:endParaRPr/>
          </a:p>
        </p:txBody>
      </p:sp>
      <p:sp>
        <p:nvSpPr>
          <p:cNvPr id="398" name="Google Shape;398;p12"/>
          <p:cNvSpPr txBox="1"/>
          <p:nvPr/>
        </p:nvSpPr>
        <p:spPr>
          <a:xfrm>
            <a:off x="8183880" y="40690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Custom onboarding</a:t>
            </a:r>
            <a:endParaRPr/>
          </a:p>
        </p:txBody>
      </p:sp>
      <p:sp>
        <p:nvSpPr>
          <p:cNvPr id="399" name="Google Shape;399;p12"/>
          <p:cNvSpPr txBox="1"/>
          <p:nvPr/>
        </p:nvSpPr>
        <p:spPr>
          <a:xfrm>
            <a:off x="8183880" y="43891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Volume discounts on processing</a:t>
            </a:r>
            <a:endParaRPr/>
          </a:p>
        </p:txBody>
      </p:sp>
      <p:sp>
        <p:nvSpPr>
          <p:cNvPr id="400" name="Google Shape;400;p12"/>
          <p:cNvSpPr txBox="1"/>
          <p:nvPr/>
        </p:nvSpPr>
        <p:spPr>
          <a:xfrm>
            <a:off x="8183880" y="47091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White-label options (future)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3"/>
          <p:cNvSpPr/>
          <p:nvPr/>
        </p:nvSpPr>
        <p:spPr>
          <a:xfrm>
            <a:off x="731520" y="228600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06" name="Google Shape;406;p13"/>
          <p:cNvSpPr txBox="1"/>
          <p:nvPr/>
        </p:nvSpPr>
        <p:spPr>
          <a:xfrm>
            <a:off x="2011680" y="21031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&amp; Technology</a:t>
            </a:r>
            <a:endParaRPr/>
          </a:p>
        </p:txBody>
      </p:sp>
      <p:sp>
        <p:nvSpPr>
          <p:cNvPr id="407" name="Google Shape;407;p13"/>
          <p:cNvSpPr txBox="1"/>
          <p:nvPr/>
        </p:nvSpPr>
        <p:spPr>
          <a:xfrm>
            <a:off x="2011680" y="30175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TypeScript monorepo, NestJS + Prisma + PostgreSQL RLS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4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Technology Stack</a:t>
            </a:r>
            <a:endParaRPr/>
          </a:p>
        </p:txBody>
      </p:sp>
      <p:sp>
        <p:nvSpPr>
          <p:cNvPr id="413" name="Google Shape;413;p14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4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TypeScript everywhere -- single language across the entire stack</a:t>
            </a:r>
            <a:endParaRPr/>
          </a:p>
        </p:txBody>
      </p:sp>
      <p:graphicFrame>
        <p:nvGraphicFramePr>
          <p:cNvPr id="415" name="Google Shape;415;p14"/>
          <p:cNvGraphicFramePr/>
          <p:nvPr/>
        </p:nvGraphicFramePr>
        <p:xfrm>
          <a:off x="731520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{36BB4BFD-88E4-4783-9C64-90CA04ADB2B8}</a:tableStyleId>
              </a:tblPr>
              <a:tblGrid>
                <a:gridCol w="2103125"/>
                <a:gridCol w="3200400"/>
                <a:gridCol w="52120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Layer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Technology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Rationale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NestJS 11+ + Prisma 6+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Modular DI framework + type-safe ORM with PostgreSQL RLS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Frontend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Next.js 15 (App Router)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RSC, server actions, SSR for booking pages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UI Framework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shadcn/ui + Radix + Tailwind 4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Accessible, composable, utility-first styling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Database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PostgreSQL 16 (RLS)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ACID compliance, RLS for multi-tenancy, full-text search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Cache / Queue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Redis (Upstash) + BullMQ 5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 processing, caching, session storage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Mobile (Phase 2)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React Native + Expo 54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 sharing via packages/shared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 NestJS + Passport.js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JWT RS256, OAuth 2.0, API keys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Payments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PaymentProvider abstraction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Stripe Connect (P1), Adyen/PayPal (P3), offline fallback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Monorepo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Turborepo + pnpm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Efficient builds, shared TypeScript packages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5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/>
          </a:p>
        </p:txBody>
      </p:sp>
      <p:sp>
        <p:nvSpPr>
          <p:cNvPr id="421" name="Google Shape;421;p15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High-level infrastructure overview</a:t>
            </a:r>
            <a:endParaRPr/>
          </a:p>
        </p:txBody>
      </p:sp>
      <p:sp>
        <p:nvSpPr>
          <p:cNvPr id="423" name="Google Shape;423;p15"/>
          <p:cNvSpPr/>
          <p:nvPr/>
        </p:nvSpPr>
        <p:spPr>
          <a:xfrm>
            <a:off x="3200400" y="1554480"/>
            <a:ext cx="5760720" cy="54864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 txBox="1"/>
          <p:nvPr/>
        </p:nvSpPr>
        <p:spPr>
          <a:xfrm>
            <a:off x="3200400" y="164592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Cloudflare CDN / DNS / DDoS Protection</a:t>
            </a:r>
            <a:endParaRPr/>
          </a:p>
        </p:txBody>
      </p:sp>
      <p:sp>
        <p:nvSpPr>
          <p:cNvPr id="425" name="Google Shape;425;p15"/>
          <p:cNvSpPr/>
          <p:nvPr/>
        </p:nvSpPr>
        <p:spPr>
          <a:xfrm>
            <a:off x="1371600" y="2331720"/>
            <a:ext cx="4114800" cy="128016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1371600" y="2331720"/>
            <a:ext cx="411480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 txBox="1"/>
          <p:nvPr/>
        </p:nvSpPr>
        <p:spPr>
          <a:xfrm>
            <a:off x="1371600" y="24688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Vercel (Next.js)</a:t>
            </a:r>
            <a:endParaRPr/>
          </a:p>
        </p:txBody>
      </p:sp>
      <p:sp>
        <p:nvSpPr>
          <p:cNvPr id="428" name="Google Shape;428;p15"/>
          <p:cNvSpPr txBox="1"/>
          <p:nvPr/>
        </p:nvSpPr>
        <p:spPr>
          <a:xfrm>
            <a:off x="1371600" y="278892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Admin CRM  |  Client Portal  |  Booking Pages</a:t>
            </a:r>
            <a:b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SSR/SSG  |  React Server Components</a:t>
            </a:r>
            <a:endParaRPr/>
          </a:p>
        </p:txBody>
      </p:sp>
      <p:sp>
        <p:nvSpPr>
          <p:cNvPr id="429" name="Google Shape;429;p15"/>
          <p:cNvSpPr/>
          <p:nvPr/>
        </p:nvSpPr>
        <p:spPr>
          <a:xfrm>
            <a:off x="5943600" y="2331720"/>
            <a:ext cx="3200400" cy="128016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5943600" y="2331720"/>
            <a:ext cx="320040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 txBox="1"/>
          <p:nvPr/>
        </p:nvSpPr>
        <p:spPr>
          <a:xfrm>
            <a:off x="5943600" y="24688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Mobile Apps (Phase 2)</a:t>
            </a:r>
            <a:endParaRPr/>
          </a:p>
        </p:txBody>
      </p:sp>
      <p:sp>
        <p:nvSpPr>
          <p:cNvPr id="432" name="Google Shape;432;p15"/>
          <p:cNvSpPr txBox="1"/>
          <p:nvPr/>
        </p:nvSpPr>
        <p:spPr>
          <a:xfrm>
            <a:off x="5943600" y="278892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React Native + Expo</a:t>
            </a:r>
            <a:b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iOS &amp; Android</a:t>
            </a: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731520" y="3886200"/>
            <a:ext cx="10698480" cy="2743200"/>
          </a:xfrm>
          <a:prstGeom prst="roundRect">
            <a:avLst>
              <a:gd fmla="val 3000" name="adj"/>
            </a:avLst>
          </a:prstGeom>
          <a:solidFill>
            <a:srgbClr val="1A25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 txBox="1"/>
          <p:nvPr/>
        </p:nvSpPr>
        <p:spPr>
          <a:xfrm>
            <a:off x="731520" y="395935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Fly.io Platform</a:t>
            </a:r>
            <a:endParaRPr/>
          </a:p>
        </p:txBody>
      </p:sp>
      <p:sp>
        <p:nvSpPr>
          <p:cNvPr id="435" name="Google Shape;435;p15"/>
          <p:cNvSpPr/>
          <p:nvPr/>
        </p:nvSpPr>
        <p:spPr>
          <a:xfrm>
            <a:off x="1097280" y="4343400"/>
            <a:ext cx="3200400" cy="73152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5"/>
          <p:cNvSpPr txBox="1"/>
          <p:nvPr/>
        </p:nvSpPr>
        <p:spPr>
          <a:xfrm>
            <a:off x="1097280" y="443484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NestJS API Server</a:t>
            </a:r>
            <a:b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REST API</a:t>
            </a:r>
            <a:endParaRPr/>
          </a:p>
        </p:txBody>
      </p:sp>
      <p:sp>
        <p:nvSpPr>
          <p:cNvPr id="437" name="Google Shape;437;p15"/>
          <p:cNvSpPr/>
          <p:nvPr/>
        </p:nvSpPr>
        <p:spPr>
          <a:xfrm>
            <a:off x="4572000" y="4343400"/>
            <a:ext cx="3200400" cy="73152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 txBox="1"/>
          <p:nvPr/>
        </p:nvSpPr>
        <p:spPr>
          <a:xfrm>
            <a:off x="4572000" y="443484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 16</a:t>
            </a:r>
            <a:b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Row-Level Security</a:t>
            </a:r>
            <a:endParaRPr/>
          </a:p>
        </p:txBody>
      </p:sp>
      <p:sp>
        <p:nvSpPr>
          <p:cNvPr id="439" name="Google Shape;439;p15"/>
          <p:cNvSpPr/>
          <p:nvPr/>
        </p:nvSpPr>
        <p:spPr>
          <a:xfrm>
            <a:off x="8046720" y="4343400"/>
            <a:ext cx="3017520" cy="73152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5"/>
          <p:cNvSpPr txBox="1"/>
          <p:nvPr/>
        </p:nvSpPr>
        <p:spPr>
          <a:xfrm>
            <a:off x="8046720" y="443484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Redis (Upstash)</a:t>
            </a:r>
            <a:b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BullMQ Workers</a:t>
            </a:r>
            <a:endParaRPr/>
          </a:p>
        </p:txBody>
      </p:sp>
      <p:sp>
        <p:nvSpPr>
          <p:cNvPr id="441" name="Google Shape;441;p15"/>
          <p:cNvSpPr/>
          <p:nvPr/>
        </p:nvSpPr>
        <p:spPr>
          <a:xfrm>
            <a:off x="914400" y="5349240"/>
            <a:ext cx="1965960" cy="54864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 txBox="1"/>
          <p:nvPr/>
        </p:nvSpPr>
        <p:spPr>
          <a:xfrm>
            <a:off x="914400" y="545896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Stripe Connect</a:t>
            </a:r>
            <a:endParaRPr/>
          </a:p>
        </p:txBody>
      </p:sp>
      <p:sp>
        <p:nvSpPr>
          <p:cNvPr id="443" name="Google Shape;443;p15"/>
          <p:cNvSpPr/>
          <p:nvPr/>
        </p:nvSpPr>
        <p:spPr>
          <a:xfrm>
            <a:off x="3017520" y="5349240"/>
            <a:ext cx="1965960" cy="54864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5"/>
          <p:cNvSpPr txBox="1"/>
          <p:nvPr/>
        </p:nvSpPr>
        <p:spPr>
          <a:xfrm>
            <a:off x="3017520" y="545896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Resend (Email)</a:t>
            </a:r>
            <a:endParaRPr/>
          </a:p>
        </p:txBody>
      </p:sp>
      <p:sp>
        <p:nvSpPr>
          <p:cNvPr id="445" name="Google Shape;445;p15"/>
          <p:cNvSpPr/>
          <p:nvPr/>
        </p:nvSpPr>
        <p:spPr>
          <a:xfrm>
            <a:off x="5120640" y="5349240"/>
            <a:ext cx="1965960" cy="54864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5"/>
          <p:cNvSpPr txBox="1"/>
          <p:nvPr/>
        </p:nvSpPr>
        <p:spPr>
          <a:xfrm>
            <a:off x="5120640" y="545896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Twilio (SMS)</a:t>
            </a:r>
            <a:endParaRPr/>
          </a:p>
        </p:txBody>
      </p:sp>
      <p:sp>
        <p:nvSpPr>
          <p:cNvPr id="447" name="Google Shape;447;p15"/>
          <p:cNvSpPr/>
          <p:nvPr/>
        </p:nvSpPr>
        <p:spPr>
          <a:xfrm>
            <a:off x="7223760" y="5349240"/>
            <a:ext cx="1965960" cy="54864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5"/>
          <p:cNvSpPr txBox="1"/>
          <p:nvPr/>
        </p:nvSpPr>
        <p:spPr>
          <a:xfrm>
            <a:off x="7223760" y="545896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Cloudflare R2</a:t>
            </a:r>
            <a:endParaRPr/>
          </a:p>
        </p:txBody>
      </p:sp>
      <p:sp>
        <p:nvSpPr>
          <p:cNvPr id="449" name="Google Shape;449;p15"/>
          <p:cNvSpPr/>
          <p:nvPr/>
        </p:nvSpPr>
        <p:spPr>
          <a:xfrm>
            <a:off x="9326880" y="5349240"/>
            <a:ext cx="1965960" cy="54864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5"/>
          <p:cNvSpPr txBox="1"/>
          <p:nvPr/>
        </p:nvSpPr>
        <p:spPr>
          <a:xfrm>
            <a:off x="9326880" y="545896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Google Calendar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6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Progressive Complexity Engine</a:t>
            </a:r>
            <a:endParaRPr/>
          </a:p>
        </p:txBody>
      </p:sp>
      <p:sp>
        <p:nvSpPr>
          <p:cNvPr id="456" name="Google Shape;456;p16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Data presence IS configuration -- no feature flags, no upgrade walls</a:t>
            </a:r>
            <a:endParaRPr/>
          </a:p>
        </p:txBody>
      </p:sp>
      <p:sp>
        <p:nvSpPr>
          <p:cNvPr id="458" name="Google Shape;458;p16"/>
          <p:cNvSpPr/>
          <p:nvPr/>
        </p:nvSpPr>
        <p:spPr>
          <a:xfrm>
            <a:off x="548640" y="1554480"/>
            <a:ext cx="5029200" cy="22860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6"/>
          <p:cNvSpPr/>
          <p:nvPr/>
        </p:nvSpPr>
        <p:spPr>
          <a:xfrm>
            <a:off x="548640" y="1554480"/>
            <a:ext cx="502920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6"/>
          <p:cNvSpPr txBox="1"/>
          <p:nvPr/>
        </p:nvSpPr>
        <p:spPr>
          <a:xfrm>
            <a:off x="777240" y="16916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ZERO-CONFIG FREELANCER</a:t>
            </a:r>
            <a:endParaRPr/>
          </a:p>
        </p:txBody>
      </p:sp>
      <p:sp>
        <p:nvSpPr>
          <p:cNvPr id="461" name="Google Shape;461;p16"/>
          <p:cNvSpPr txBox="1"/>
          <p:nvPr/>
        </p:nvSpPr>
        <p:spPr>
          <a:xfrm>
            <a:off x="777240" y="20574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Required: name, service name, duration, price</a:t>
            </a:r>
            <a:endParaRPr/>
          </a:p>
        </p:txBody>
      </p:sp>
      <p:sp>
        <p:nvSpPr>
          <p:cNvPr id="462" name="Google Shape;462;p16"/>
          <p:cNvSpPr txBox="1"/>
          <p:nvPr/>
        </p:nvSpPr>
        <p:spPr>
          <a:xfrm>
            <a:off x="777240" y="2377440"/>
            <a:ext cx="4572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Booking flow: Date/Time &gt; Payment &gt; Confirmation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Preset defaults: Mon-Fri 9-5, auto-confirm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No guests, no contracts, no intake forms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Flat FIXED pricing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All advanced UI sections hidden</a:t>
            </a:r>
            <a:endParaRPr/>
          </a:p>
        </p:txBody>
      </p:sp>
      <p:sp>
        <p:nvSpPr>
          <p:cNvPr id="463" name="Google Shape;463;p16"/>
          <p:cNvSpPr/>
          <p:nvPr/>
        </p:nvSpPr>
        <p:spPr>
          <a:xfrm>
            <a:off x="5852160" y="1554480"/>
            <a:ext cx="5577840" cy="22860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6"/>
          <p:cNvSpPr/>
          <p:nvPr/>
        </p:nvSpPr>
        <p:spPr>
          <a:xfrm>
            <a:off x="5852160" y="1554480"/>
            <a:ext cx="557784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 txBox="1"/>
          <p:nvPr/>
        </p:nvSpPr>
        <p:spPr>
          <a:xfrm>
            <a:off x="6080760" y="169164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FULLY-CONFIGURED VENUE</a:t>
            </a:r>
            <a:endParaRPr/>
          </a:p>
        </p:txBody>
      </p:sp>
      <p:sp>
        <p:nvSpPr>
          <p:cNvPr id="466" name="Google Shape;466;p16"/>
          <p:cNvSpPr txBox="1"/>
          <p:nvPr/>
        </p:nvSpPr>
        <p:spPr>
          <a:xfrm>
            <a:off x="6080760" y="205740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Same codebase, same schema, different data</a:t>
            </a:r>
            <a:endParaRPr/>
          </a:p>
        </p:txBody>
      </p:sp>
      <p:sp>
        <p:nvSpPr>
          <p:cNvPr id="467" name="Google Shape;467;p16"/>
          <p:cNvSpPr txBox="1"/>
          <p:nvPr/>
        </p:nvSpPr>
        <p:spPr>
          <a:xfrm>
            <a:off x="6080760" y="2377440"/>
            <a:ext cx="51206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Flow: Service &gt; Venue &gt; Date &gt; Guests &gt; Questionnaire &gt;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Add-ons &gt; Pricing &gt; Contract &gt; Payment &gt; Confirmation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TIERED pricing with age-range tiers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Guest tracking, intake forms, contracts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Manual approval, deposit payments</a:t>
            </a:r>
            <a:endParaRPr/>
          </a:p>
        </p:txBody>
      </p:sp>
      <p:graphicFrame>
        <p:nvGraphicFramePr>
          <p:cNvPr id="468" name="Google Shape;468;p16"/>
          <p:cNvGraphicFramePr/>
          <p:nvPr/>
        </p:nvGraphicFramePr>
        <p:xfrm>
          <a:off x="548640" y="4114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{36BB4BFD-88E4-4783-9C64-90CA04ADB2B8}</a:tableStyleId>
              </a:tblPr>
              <a:tblGrid>
                <a:gridCol w="2560325"/>
                <a:gridCol w="1828800"/>
                <a:gridCol w="3017525"/>
                <a:gridCol w="32918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Field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When NULL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When Configured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guest_config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JSONB, nullable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 = no guest step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configured = guest step appears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tier_config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JSONB, nullable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 = FIXED pricing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configured = tiered pricing engine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contract_template_id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FK, nullable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 = no contract step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configured = signature capture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deposit_config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JSONB, nullable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 = full payment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configured = deposit collected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intake_form_config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JSONB, nullable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 = no questionnaire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configured = form rendered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cancellation_policy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JSONB, nullable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 = free cancel 24h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configured = custom rules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7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Multi-Tenancy Architecture</a:t>
            </a:r>
            <a:endParaRPr/>
          </a:p>
        </p:txBody>
      </p:sp>
      <p:sp>
        <p:nvSpPr>
          <p:cNvPr id="474" name="Google Shape;474;p17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7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Shared database with PostgreSQL Row-Level Security</a:t>
            </a:r>
            <a:endParaRPr/>
          </a:p>
        </p:txBody>
      </p:sp>
      <p:sp>
        <p:nvSpPr>
          <p:cNvPr id="476" name="Google Shape;476;p17"/>
          <p:cNvSpPr/>
          <p:nvPr/>
        </p:nvSpPr>
        <p:spPr>
          <a:xfrm>
            <a:off x="548640" y="1554480"/>
            <a:ext cx="5029200" cy="27432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548640" y="1554480"/>
            <a:ext cx="502920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7"/>
          <p:cNvSpPr txBox="1"/>
          <p:nvPr/>
        </p:nvSpPr>
        <p:spPr>
          <a:xfrm>
            <a:off x="777240" y="16916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/>
          </a:p>
        </p:txBody>
      </p:sp>
      <p:sp>
        <p:nvSpPr>
          <p:cNvPr id="479" name="Google Shape;479;p17"/>
          <p:cNvSpPr txBox="1"/>
          <p:nvPr/>
        </p:nvSpPr>
        <p:spPr>
          <a:xfrm>
            <a:off x="777240" y="205740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1. Resolve tenant from JWT claims or URL slug</a:t>
            </a:r>
            <a:endParaRPr/>
          </a:p>
        </p:txBody>
      </p:sp>
      <p:sp>
        <p:nvSpPr>
          <p:cNvPr id="480" name="Google Shape;480;p17"/>
          <p:cNvSpPr txBox="1"/>
          <p:nvPr/>
        </p:nvSpPr>
        <p:spPr>
          <a:xfrm>
            <a:off x="777240" y="260604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2. NestJS middleware sets app.current_tenant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  on PostgreSQL session via SET LOCAL</a:t>
            </a:r>
            <a:endParaRPr/>
          </a:p>
        </p:txBody>
      </p:sp>
      <p:sp>
        <p:nvSpPr>
          <p:cNvPr id="481" name="Google Shape;481;p17"/>
          <p:cNvSpPr txBox="1"/>
          <p:nvPr/>
        </p:nvSpPr>
        <p:spPr>
          <a:xfrm>
            <a:off x="777240" y="315468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3. Prisma Client Extension auto-filters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  all queries by tenant_id</a:t>
            </a:r>
            <a:endParaRPr/>
          </a:p>
        </p:txBody>
      </p:sp>
      <p:sp>
        <p:nvSpPr>
          <p:cNvPr id="482" name="Google Shape;482;p17"/>
          <p:cNvSpPr txBox="1"/>
          <p:nvPr/>
        </p:nvSpPr>
        <p:spPr>
          <a:xfrm>
            <a:off x="777240" y="37033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4. RLS acts as database-level safety net --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  even if app code has a bug, no data leaks</a:t>
            </a:r>
            <a:endParaRPr/>
          </a:p>
        </p:txBody>
      </p:sp>
      <p:sp>
        <p:nvSpPr>
          <p:cNvPr id="483" name="Google Shape;483;p17"/>
          <p:cNvSpPr/>
          <p:nvPr/>
        </p:nvSpPr>
        <p:spPr>
          <a:xfrm>
            <a:off x="5852160" y="1554480"/>
            <a:ext cx="5577840" cy="27432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5852160" y="1554480"/>
            <a:ext cx="557784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7"/>
          <p:cNvSpPr txBox="1"/>
          <p:nvPr/>
        </p:nvSpPr>
        <p:spPr>
          <a:xfrm>
            <a:off x="6080760" y="169164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TENANT RESOLUTION BY CONTEXT</a:t>
            </a:r>
            <a:endParaRPr/>
          </a:p>
        </p:txBody>
      </p:sp>
      <p:sp>
        <p:nvSpPr>
          <p:cNvPr id="486" name="Google Shape;486;p17"/>
          <p:cNvSpPr txBox="1"/>
          <p:nvPr/>
        </p:nvSpPr>
        <p:spPr>
          <a:xfrm>
            <a:off x="6080760" y="21031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 CRM</a:t>
            </a:r>
            <a:endParaRPr/>
          </a:p>
        </p:txBody>
      </p:sp>
      <p:sp>
        <p:nvSpPr>
          <p:cNvPr id="487" name="Google Shape;487;p17"/>
          <p:cNvSpPr txBox="1"/>
          <p:nvPr/>
        </p:nvSpPr>
        <p:spPr>
          <a:xfrm>
            <a:off x="8092440" y="21031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JWT tenant_id claim</a:t>
            </a:r>
            <a:endParaRPr/>
          </a:p>
        </p:txBody>
      </p:sp>
      <p:sp>
        <p:nvSpPr>
          <p:cNvPr id="488" name="Google Shape;488;p17"/>
          <p:cNvSpPr txBox="1"/>
          <p:nvPr/>
        </p:nvSpPr>
        <p:spPr>
          <a:xfrm>
            <a:off x="6080760" y="24688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 Portal</a:t>
            </a:r>
            <a:endParaRPr/>
          </a:p>
        </p:txBody>
      </p:sp>
      <p:sp>
        <p:nvSpPr>
          <p:cNvPr id="489" name="Google Shape;489;p17"/>
          <p:cNvSpPr txBox="1"/>
          <p:nvPr/>
        </p:nvSpPr>
        <p:spPr>
          <a:xfrm>
            <a:off x="8092440" y="24688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URL slug (/portal/{slug})</a:t>
            </a:r>
            <a:endParaRPr/>
          </a:p>
        </p:txBody>
      </p:sp>
      <p:sp>
        <p:nvSpPr>
          <p:cNvPr id="490" name="Google Shape;490;p17"/>
          <p:cNvSpPr txBox="1"/>
          <p:nvPr/>
        </p:nvSpPr>
        <p:spPr>
          <a:xfrm>
            <a:off x="6080760" y="28346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Booking Page</a:t>
            </a:r>
            <a:endParaRPr/>
          </a:p>
        </p:txBody>
      </p:sp>
      <p:sp>
        <p:nvSpPr>
          <p:cNvPr id="491" name="Google Shape;491;p17"/>
          <p:cNvSpPr txBox="1"/>
          <p:nvPr/>
        </p:nvSpPr>
        <p:spPr>
          <a:xfrm>
            <a:off x="8092440" y="28346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Read-only role; page slug</a:t>
            </a:r>
            <a:endParaRPr/>
          </a:p>
        </p:txBody>
      </p:sp>
      <p:sp>
        <p:nvSpPr>
          <p:cNvPr id="492" name="Google Shape;492;p17"/>
          <p:cNvSpPr txBox="1"/>
          <p:nvPr/>
        </p:nvSpPr>
        <p:spPr>
          <a:xfrm>
            <a:off x="6080760" y="32004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 Widget</a:t>
            </a:r>
            <a:endParaRPr/>
          </a:p>
        </p:txBody>
      </p:sp>
      <p:sp>
        <p:nvSpPr>
          <p:cNvPr id="493" name="Google Shape;493;p17"/>
          <p:cNvSpPr txBox="1"/>
          <p:nvPr/>
        </p:nvSpPr>
        <p:spPr>
          <a:xfrm>
            <a:off x="8092440" y="32004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Tenant slug via config</a:t>
            </a:r>
            <a:endParaRPr/>
          </a:p>
        </p:txBody>
      </p:sp>
      <p:sp>
        <p:nvSpPr>
          <p:cNvPr id="494" name="Google Shape;494;p17"/>
          <p:cNvSpPr txBox="1"/>
          <p:nvPr/>
        </p:nvSpPr>
        <p:spPr>
          <a:xfrm>
            <a:off x="6080760" y="356616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/ MCP</a:t>
            </a:r>
            <a:endParaRPr/>
          </a:p>
        </p:txBody>
      </p:sp>
      <p:sp>
        <p:nvSpPr>
          <p:cNvPr id="495" name="Google Shape;495;p17"/>
          <p:cNvSpPr txBox="1"/>
          <p:nvPr/>
        </p:nvSpPr>
        <p:spPr>
          <a:xfrm>
            <a:off x="8092440" y="35661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API key mapped to tenant_id</a:t>
            </a:r>
            <a:endParaRPr/>
          </a:p>
        </p:txBody>
      </p:sp>
      <p:sp>
        <p:nvSpPr>
          <p:cNvPr id="496" name="Google Shape;496;p17"/>
          <p:cNvSpPr txBox="1"/>
          <p:nvPr/>
        </p:nvSpPr>
        <p:spPr>
          <a:xfrm>
            <a:off x="548640" y="457200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ACCEPTANCE CRITERIA</a:t>
            </a:r>
            <a:endParaRPr/>
          </a:p>
        </p:txBody>
      </p:sp>
      <p:sp>
        <p:nvSpPr>
          <p:cNvPr id="497" name="Google Shape;497;p17"/>
          <p:cNvSpPr txBox="1"/>
          <p:nvPr/>
        </p:nvSpPr>
        <p:spPr>
          <a:xfrm>
            <a:off x="548640" y="4892040"/>
            <a:ext cx="106984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Each business has isolated data (no cross-tenant leakage)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Adding a tenant requires no developer intervention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Single codebase, no per-tenant deployment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Performance not degraded by other tenants' load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Businesses can customize booking page (logo, colors, domain)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8"/>
          <p:cNvSpPr/>
          <p:nvPr/>
        </p:nvSpPr>
        <p:spPr>
          <a:xfrm>
            <a:off x="731520" y="228600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03" name="Google Shape;503;p18"/>
          <p:cNvSpPr txBox="1"/>
          <p:nvPr/>
        </p:nvSpPr>
        <p:spPr>
          <a:xfrm>
            <a:off x="2011680" y="21031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Booking &amp; Payments</a:t>
            </a:r>
            <a:endParaRPr/>
          </a:p>
        </p:txBody>
      </p:sp>
      <p:sp>
        <p:nvSpPr>
          <p:cNvPr id="504" name="Google Shape;504;p18"/>
          <p:cNvSpPr txBox="1"/>
          <p:nvPr/>
        </p:nvSpPr>
        <p:spPr>
          <a:xfrm>
            <a:off x="2011680" y="30175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State machines, availability engine, and payment processing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9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Booking State Machine</a:t>
            </a:r>
            <a:endParaRPr/>
          </a:p>
        </p:txBody>
      </p:sp>
      <p:sp>
        <p:nvSpPr>
          <p:cNvPr id="510" name="Google Shape;510;p19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9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states, strict transition rules, walk-in entry point</a:t>
            </a:r>
            <a:endParaRPr/>
          </a:p>
        </p:txBody>
      </p:sp>
      <p:sp>
        <p:nvSpPr>
          <p:cNvPr id="512" name="Google Shape;512;p19"/>
          <p:cNvSpPr/>
          <p:nvPr/>
        </p:nvSpPr>
        <p:spPr>
          <a:xfrm>
            <a:off x="731520" y="2011680"/>
            <a:ext cx="2103120" cy="64008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9"/>
          <p:cNvSpPr/>
          <p:nvPr/>
        </p:nvSpPr>
        <p:spPr>
          <a:xfrm>
            <a:off x="731520" y="2011680"/>
            <a:ext cx="210312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9"/>
          <p:cNvSpPr txBox="1"/>
          <p:nvPr/>
        </p:nvSpPr>
        <p:spPr>
          <a:xfrm>
            <a:off x="731520" y="21488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PENDING</a:t>
            </a:r>
            <a:endParaRPr/>
          </a:p>
        </p:txBody>
      </p:sp>
      <p:sp>
        <p:nvSpPr>
          <p:cNvPr id="515" name="Google Shape;515;p19"/>
          <p:cNvSpPr/>
          <p:nvPr/>
        </p:nvSpPr>
        <p:spPr>
          <a:xfrm>
            <a:off x="3474720" y="2011680"/>
            <a:ext cx="2103120" cy="64008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9"/>
          <p:cNvSpPr/>
          <p:nvPr/>
        </p:nvSpPr>
        <p:spPr>
          <a:xfrm>
            <a:off x="3474720" y="2011680"/>
            <a:ext cx="210312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9"/>
          <p:cNvSpPr txBox="1"/>
          <p:nvPr/>
        </p:nvSpPr>
        <p:spPr>
          <a:xfrm>
            <a:off x="3474720" y="21488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CONFIRMED</a:t>
            </a:r>
            <a:endParaRPr/>
          </a:p>
        </p:txBody>
      </p:sp>
      <p:sp>
        <p:nvSpPr>
          <p:cNvPr id="518" name="Google Shape;518;p19"/>
          <p:cNvSpPr/>
          <p:nvPr/>
        </p:nvSpPr>
        <p:spPr>
          <a:xfrm>
            <a:off x="6217920" y="2011680"/>
            <a:ext cx="2103120" cy="64008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9"/>
          <p:cNvSpPr/>
          <p:nvPr/>
        </p:nvSpPr>
        <p:spPr>
          <a:xfrm>
            <a:off x="6217920" y="2011680"/>
            <a:ext cx="21031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9"/>
          <p:cNvSpPr txBox="1"/>
          <p:nvPr/>
        </p:nvSpPr>
        <p:spPr>
          <a:xfrm>
            <a:off x="6217920" y="21488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IN_PROGRESS</a:t>
            </a:r>
            <a:endParaRPr/>
          </a:p>
        </p:txBody>
      </p:sp>
      <p:sp>
        <p:nvSpPr>
          <p:cNvPr id="521" name="Google Shape;521;p19"/>
          <p:cNvSpPr/>
          <p:nvPr/>
        </p:nvSpPr>
        <p:spPr>
          <a:xfrm>
            <a:off x="8961120" y="2011680"/>
            <a:ext cx="2103120" cy="64008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9"/>
          <p:cNvSpPr/>
          <p:nvPr/>
        </p:nvSpPr>
        <p:spPr>
          <a:xfrm>
            <a:off x="8961120" y="2011680"/>
            <a:ext cx="210312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9"/>
          <p:cNvSpPr txBox="1"/>
          <p:nvPr/>
        </p:nvSpPr>
        <p:spPr>
          <a:xfrm>
            <a:off x="8961120" y="21488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COMPLETED</a:t>
            </a:r>
            <a:endParaRPr/>
          </a:p>
        </p:txBody>
      </p:sp>
      <p:sp>
        <p:nvSpPr>
          <p:cNvPr id="524" name="Google Shape;524;p19"/>
          <p:cNvSpPr/>
          <p:nvPr/>
        </p:nvSpPr>
        <p:spPr>
          <a:xfrm>
            <a:off x="2103120" y="3840480"/>
            <a:ext cx="2103120" cy="64008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9"/>
          <p:cNvSpPr/>
          <p:nvPr/>
        </p:nvSpPr>
        <p:spPr>
          <a:xfrm>
            <a:off x="2103120" y="3840480"/>
            <a:ext cx="2103120" cy="5080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9"/>
          <p:cNvSpPr txBox="1"/>
          <p:nvPr/>
        </p:nvSpPr>
        <p:spPr>
          <a:xfrm>
            <a:off x="2103120" y="39776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CANCELLED</a:t>
            </a:r>
            <a:endParaRPr/>
          </a:p>
        </p:txBody>
      </p:sp>
      <p:sp>
        <p:nvSpPr>
          <p:cNvPr id="527" name="Google Shape;527;p19"/>
          <p:cNvSpPr/>
          <p:nvPr/>
        </p:nvSpPr>
        <p:spPr>
          <a:xfrm>
            <a:off x="5303520" y="3840480"/>
            <a:ext cx="2103120" cy="64008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9"/>
          <p:cNvSpPr/>
          <p:nvPr/>
        </p:nvSpPr>
        <p:spPr>
          <a:xfrm>
            <a:off x="5303520" y="3840480"/>
            <a:ext cx="210312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9"/>
          <p:cNvSpPr txBox="1"/>
          <p:nvPr/>
        </p:nvSpPr>
        <p:spPr>
          <a:xfrm>
            <a:off x="5303520" y="39776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NO_SHOW</a:t>
            </a:r>
            <a:endParaRPr/>
          </a:p>
        </p:txBody>
      </p:sp>
      <p:sp>
        <p:nvSpPr>
          <p:cNvPr id="530" name="Google Shape;530;p19"/>
          <p:cNvSpPr/>
          <p:nvPr/>
        </p:nvSpPr>
        <p:spPr>
          <a:xfrm>
            <a:off x="548640" y="4846320"/>
            <a:ext cx="5029200" cy="164592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9"/>
          <p:cNvSpPr/>
          <p:nvPr/>
        </p:nvSpPr>
        <p:spPr>
          <a:xfrm>
            <a:off x="548640" y="4846320"/>
            <a:ext cx="502920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9"/>
          <p:cNvSpPr txBox="1"/>
          <p:nvPr/>
        </p:nvSpPr>
        <p:spPr>
          <a:xfrm>
            <a:off x="777240" y="49834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WALK-IN ENTRY POINT</a:t>
            </a:r>
            <a:endParaRPr/>
          </a:p>
        </p:txBody>
      </p:sp>
      <p:sp>
        <p:nvSpPr>
          <p:cNvPr id="533" name="Google Shape;533;p19"/>
          <p:cNvSpPr txBox="1"/>
          <p:nvPr/>
        </p:nvSpPr>
        <p:spPr>
          <a:xfrm>
            <a:off x="777240" y="5303519"/>
            <a:ext cx="4572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Bypasses PENDING state entirely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Enters CONFIRMED directly via Quick-Add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Staff-initiated from Admin CRM calendar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source = WALK_IN (always commission-free)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No confirmation email (client is present)</a:t>
            </a:r>
            <a:endParaRPr/>
          </a:p>
        </p:txBody>
      </p:sp>
      <p:sp>
        <p:nvSpPr>
          <p:cNvPr id="534" name="Google Shape;534;p19"/>
          <p:cNvSpPr/>
          <p:nvPr/>
        </p:nvSpPr>
        <p:spPr>
          <a:xfrm>
            <a:off x="5852160" y="4846320"/>
            <a:ext cx="5577840" cy="164592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9"/>
          <p:cNvSpPr/>
          <p:nvPr/>
        </p:nvSpPr>
        <p:spPr>
          <a:xfrm>
            <a:off x="5852160" y="4846320"/>
            <a:ext cx="557784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9"/>
          <p:cNvSpPr txBox="1"/>
          <p:nvPr/>
        </p:nvSpPr>
        <p:spPr>
          <a:xfrm>
            <a:off x="6080760" y="49834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CONFIRMATION MODES</a:t>
            </a:r>
            <a:endParaRPr/>
          </a:p>
        </p:txBody>
      </p:sp>
      <p:sp>
        <p:nvSpPr>
          <p:cNvPr id="537" name="Google Shape;537;p19"/>
          <p:cNvSpPr txBox="1"/>
          <p:nvPr/>
        </p:nvSpPr>
        <p:spPr>
          <a:xfrm>
            <a:off x="6080760" y="5303519"/>
            <a:ext cx="5120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AUTO_CONFIRM (default):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Payment succeeds &gt; booking auto-confirmed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MANUAL_APPROVAL: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Payment collected &gt; stays PENDING &gt; staff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confirms/rejects (48h timeout &gt; auto-cancel + refund)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0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Availability Resolution Engine</a:t>
            </a:r>
            <a:endParaRPr/>
          </a:p>
        </p:txBody>
      </p:sp>
      <p:sp>
        <p:nvSpPr>
          <p:cNvPr id="543" name="Google Shape;543;p20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0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layers evaluated in priority order -- zero-config needs only layers 1 and 5</a:t>
            </a:r>
            <a:endParaRPr/>
          </a:p>
        </p:txBody>
      </p:sp>
      <p:graphicFrame>
        <p:nvGraphicFramePr>
          <p:cNvPr id="545" name="Google Shape;545;p20"/>
          <p:cNvGraphicFramePr/>
          <p:nvPr/>
        </p:nvGraphicFramePr>
        <p:xfrm>
          <a:off x="548640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{36BB4BFD-88E4-4783-9C64-90CA04ADB2B8}</a:tableStyleId>
              </a:tblPr>
              <a:tblGrid>
                <a:gridCol w="1097275"/>
                <a:gridCol w="2743200"/>
                <a:gridCol w="3840475"/>
                <a:gridCol w="32004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Priority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Rule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Effect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Required?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availability_rules (recurring)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Defines open windows per day-of-week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 (preset creates defaults)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Buffer times (before/after)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Subtracts cleanup time from each slot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Only when non-zero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blocked_dates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One-off blocks (holidays, maintenance)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Only when rows exist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INBOUND calendar events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External events block overlapping slots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Only with FR-CAL-10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Existing bookings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CONFIRMED/IN_PROGRESS block their range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Always (core integrity)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Advance window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Rejects dates outside min..max range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Always (defaults 1-365 days)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46" name="Google Shape;546;p20"/>
          <p:cNvSpPr/>
          <p:nvPr/>
        </p:nvSpPr>
        <p:spPr>
          <a:xfrm>
            <a:off x="548640" y="4754880"/>
            <a:ext cx="10881360" cy="137160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0"/>
          <p:cNvSpPr/>
          <p:nvPr/>
        </p:nvSpPr>
        <p:spPr>
          <a:xfrm>
            <a:off x="548640" y="4754880"/>
            <a:ext cx="73152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0"/>
          <p:cNvSpPr txBox="1"/>
          <p:nvPr/>
        </p:nvSpPr>
        <p:spPr>
          <a:xfrm>
            <a:off x="822960" y="4846320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PARALLEL-RUN BRIDGE (Layer 4)</a:t>
            </a:r>
            <a:endParaRPr/>
          </a:p>
        </p:txBody>
      </p:sp>
      <p:sp>
        <p:nvSpPr>
          <p:cNvPr id="549" name="Google Shape;549;p20"/>
          <p:cNvSpPr txBox="1"/>
          <p:nvPr/>
        </p:nvSpPr>
        <p:spPr>
          <a:xfrm>
            <a:off x="822960" y="5166360"/>
            <a:ext cx="10332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Booksy &gt; (one-way export) &gt; Google Calendar &lt; (two-way sync) &gt; SavSpot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Booksy appointments appear as INBOUND calendar events in SavSpot, blocking those time slots. Clients see "Unavailable" with no distinction between SavSpot bookings and external blocks. 20-45 minute latency is acceptable for advance bookings.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Payment Processing</a:t>
            </a:r>
            <a:endParaRPr/>
          </a:p>
        </p:txBody>
      </p:sp>
      <p:sp>
        <p:nvSpPr>
          <p:cNvPr id="555" name="Google Shape;555;p21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1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PaymentProvider abstraction -- provider-agnostic from day one</a:t>
            </a:r>
            <a:endParaRPr/>
          </a:p>
        </p:txBody>
      </p:sp>
      <p:sp>
        <p:nvSpPr>
          <p:cNvPr id="557" name="Google Shape;557;p21"/>
          <p:cNvSpPr/>
          <p:nvPr/>
        </p:nvSpPr>
        <p:spPr>
          <a:xfrm>
            <a:off x="548640" y="1554480"/>
            <a:ext cx="5029200" cy="292608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1"/>
          <p:cNvSpPr/>
          <p:nvPr/>
        </p:nvSpPr>
        <p:spPr>
          <a:xfrm>
            <a:off x="548640" y="1554480"/>
            <a:ext cx="502920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1"/>
          <p:cNvSpPr txBox="1"/>
          <p:nvPr/>
        </p:nvSpPr>
        <p:spPr>
          <a:xfrm>
            <a:off x="777240" y="16916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FEE STRUCTURE ($100 US BOOKING)</a:t>
            </a:r>
            <a:endParaRPr/>
          </a:p>
        </p:txBody>
      </p:sp>
      <p:sp>
        <p:nvSpPr>
          <p:cNvPr id="560" name="Google Shape;560;p21"/>
          <p:cNvSpPr txBox="1"/>
          <p:nvPr/>
        </p:nvSpPr>
        <p:spPr>
          <a:xfrm>
            <a:off x="777240" y="21488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Stripe processing:</a:t>
            </a:r>
            <a:endParaRPr/>
          </a:p>
        </p:txBody>
      </p:sp>
      <p:sp>
        <p:nvSpPr>
          <p:cNvPr id="561" name="Google Shape;561;p21"/>
          <p:cNvSpPr txBox="1"/>
          <p:nvPr/>
        </p:nvSpPr>
        <p:spPr>
          <a:xfrm>
            <a:off x="3291840" y="21488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~$3.20 (2.9% + $0.30)</a:t>
            </a:r>
            <a:endParaRPr/>
          </a:p>
        </p:txBody>
      </p:sp>
      <p:sp>
        <p:nvSpPr>
          <p:cNvPr id="562" name="Google Shape;562;p21"/>
          <p:cNvSpPr txBox="1"/>
          <p:nvPr/>
        </p:nvSpPr>
        <p:spPr>
          <a:xfrm>
            <a:off x="777240" y="25146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SavSpot platform fee:</a:t>
            </a:r>
            <a:endParaRPr/>
          </a:p>
        </p:txBody>
      </p:sp>
      <p:sp>
        <p:nvSpPr>
          <p:cNvPr id="563" name="Google Shape;563;p21"/>
          <p:cNvSpPr txBox="1"/>
          <p:nvPr/>
        </p:nvSpPr>
        <p:spPr>
          <a:xfrm>
            <a:off x="3291840" y="251460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$1.00 (1.0%)</a:t>
            </a:r>
            <a:endParaRPr/>
          </a:p>
        </p:txBody>
      </p:sp>
      <p:sp>
        <p:nvSpPr>
          <p:cNvPr id="564" name="Google Shape;564;p21"/>
          <p:cNvSpPr txBox="1"/>
          <p:nvPr/>
        </p:nvSpPr>
        <p:spPr>
          <a:xfrm>
            <a:off x="777240" y="28803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Business receives:</a:t>
            </a:r>
            <a:endParaRPr/>
          </a:p>
        </p:txBody>
      </p:sp>
      <p:sp>
        <p:nvSpPr>
          <p:cNvPr id="565" name="Google Shape;565;p21"/>
          <p:cNvSpPr txBox="1"/>
          <p:nvPr/>
        </p:nvSpPr>
        <p:spPr>
          <a:xfrm>
            <a:off x="3291840" y="28803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~$95.80</a:t>
            </a:r>
            <a:endParaRPr/>
          </a:p>
        </p:txBody>
      </p:sp>
      <p:sp>
        <p:nvSpPr>
          <p:cNvPr id="566" name="Google Shape;566;p21"/>
          <p:cNvSpPr txBox="1"/>
          <p:nvPr/>
        </p:nvSpPr>
        <p:spPr>
          <a:xfrm>
            <a:off x="777240" y="32461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Total effective rate:</a:t>
            </a:r>
            <a:endParaRPr/>
          </a:p>
        </p:txBody>
      </p:sp>
      <p:sp>
        <p:nvSpPr>
          <p:cNvPr id="567" name="Google Shape;567;p21"/>
          <p:cNvSpPr txBox="1"/>
          <p:nvPr/>
        </p:nvSpPr>
        <p:spPr>
          <a:xfrm>
            <a:off x="3291840" y="324612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~3.9% + $0.30</a:t>
            </a:r>
            <a:endParaRPr/>
          </a:p>
        </p:txBody>
      </p:sp>
      <p:sp>
        <p:nvSpPr>
          <p:cNvPr id="568" name="Google Shape;568;p21"/>
          <p:cNvSpPr/>
          <p:nvPr/>
        </p:nvSpPr>
        <p:spPr>
          <a:xfrm>
            <a:off x="777240" y="3657600"/>
            <a:ext cx="4572000" cy="38100"/>
          </a:xfrm>
          <a:prstGeom prst="rect">
            <a:avLst/>
          </a:prstGeom>
          <a:solidFill>
            <a:srgbClr val="33405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1"/>
          <p:cNvSpPr txBox="1"/>
          <p:nvPr/>
        </p:nvSpPr>
        <p:spPr>
          <a:xfrm>
            <a:off x="777240" y="379476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Referral commission (15-20% capped at $500)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applied ONLY on first platform-sourced booking</a:t>
            </a:r>
            <a:endParaRPr/>
          </a:p>
        </p:txBody>
      </p:sp>
      <p:sp>
        <p:nvSpPr>
          <p:cNvPr id="570" name="Google Shape;570;p21"/>
          <p:cNvSpPr/>
          <p:nvPr/>
        </p:nvSpPr>
        <p:spPr>
          <a:xfrm>
            <a:off x="5852160" y="1554480"/>
            <a:ext cx="5577840" cy="292608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1"/>
          <p:cNvSpPr/>
          <p:nvPr/>
        </p:nvSpPr>
        <p:spPr>
          <a:xfrm>
            <a:off x="5852160" y="1554480"/>
            <a:ext cx="557784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1"/>
          <p:cNvSpPr txBox="1"/>
          <p:nvPr/>
        </p:nvSpPr>
        <p:spPr>
          <a:xfrm>
            <a:off x="6080760" y="169164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PAYMENT PROVIDER ROADMAP</a:t>
            </a:r>
            <a:endParaRPr/>
          </a:p>
        </p:txBody>
      </p:sp>
      <p:sp>
        <p:nvSpPr>
          <p:cNvPr id="573" name="Google Shape;573;p21"/>
          <p:cNvSpPr txBox="1"/>
          <p:nvPr/>
        </p:nvSpPr>
        <p:spPr>
          <a:xfrm>
            <a:off x="6080760" y="214884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/>
          </a:p>
        </p:txBody>
      </p:sp>
      <p:sp>
        <p:nvSpPr>
          <p:cNvPr id="574" name="Google Shape;574;p21"/>
          <p:cNvSpPr txBox="1"/>
          <p:nvPr/>
        </p:nvSpPr>
        <p:spPr>
          <a:xfrm>
            <a:off x="7406640" y="214884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Stripe Connect Express</a:t>
            </a:r>
            <a:endParaRPr/>
          </a:p>
        </p:txBody>
      </p:sp>
      <p:sp>
        <p:nvSpPr>
          <p:cNvPr id="575" name="Google Shape;575;p21"/>
          <p:cNvSpPr txBox="1"/>
          <p:nvPr/>
        </p:nvSpPr>
        <p:spPr>
          <a:xfrm>
            <a:off x="7406640" y="2377440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US, EU, UK, AU, CA, many more</a:t>
            </a:r>
            <a:endParaRPr/>
          </a:p>
        </p:txBody>
      </p:sp>
      <p:sp>
        <p:nvSpPr>
          <p:cNvPr id="576" name="Google Shape;576;p21"/>
          <p:cNvSpPr txBox="1"/>
          <p:nvPr/>
        </p:nvSpPr>
        <p:spPr>
          <a:xfrm>
            <a:off x="6080760" y="265176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/>
          </a:p>
        </p:txBody>
      </p:sp>
      <p:sp>
        <p:nvSpPr>
          <p:cNvPr id="577" name="Google Shape;577;p21"/>
          <p:cNvSpPr txBox="1"/>
          <p:nvPr/>
        </p:nvSpPr>
        <p:spPr>
          <a:xfrm>
            <a:off x="7406640" y="265176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Adyen + PayPal Commerce</a:t>
            </a:r>
            <a:endParaRPr/>
          </a:p>
        </p:txBody>
      </p:sp>
      <p:sp>
        <p:nvSpPr>
          <p:cNvPr id="578" name="Google Shape;578;p21"/>
          <p:cNvSpPr txBox="1"/>
          <p:nvPr/>
        </p:nvSpPr>
        <p:spPr>
          <a:xfrm>
            <a:off x="7406640" y="2880360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Extended global coverage</a:t>
            </a:r>
            <a:endParaRPr/>
          </a:p>
        </p:txBody>
      </p:sp>
      <p:sp>
        <p:nvSpPr>
          <p:cNvPr id="579" name="Google Shape;579;p21"/>
          <p:cNvSpPr txBox="1"/>
          <p:nvPr/>
        </p:nvSpPr>
        <p:spPr>
          <a:xfrm>
            <a:off x="6080760" y="31546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/>
          </a:p>
        </p:txBody>
      </p:sp>
      <p:sp>
        <p:nvSpPr>
          <p:cNvPr id="580" name="Google Shape;580;p21"/>
          <p:cNvSpPr txBox="1"/>
          <p:nvPr/>
        </p:nvSpPr>
        <p:spPr>
          <a:xfrm>
            <a:off x="7406640" y="315468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Regional: GCash/Maya, Razorpay, Mollie</a:t>
            </a:r>
            <a:endParaRPr/>
          </a:p>
        </p:txBody>
      </p:sp>
      <p:sp>
        <p:nvSpPr>
          <p:cNvPr id="581" name="Google Shape;581;p21"/>
          <p:cNvSpPr txBox="1"/>
          <p:nvPr/>
        </p:nvSpPr>
        <p:spPr>
          <a:xfrm>
            <a:off x="7406640" y="3383280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PH, India, EU regional</a:t>
            </a:r>
            <a:endParaRPr/>
          </a:p>
        </p:txBody>
      </p:sp>
      <p:sp>
        <p:nvSpPr>
          <p:cNvPr id="582" name="Google Shape;582;p21"/>
          <p:cNvSpPr txBox="1"/>
          <p:nvPr/>
        </p:nvSpPr>
        <p:spPr>
          <a:xfrm>
            <a:off x="6080760" y="36576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Always</a:t>
            </a:r>
            <a:endParaRPr/>
          </a:p>
        </p:txBody>
      </p:sp>
      <p:sp>
        <p:nvSpPr>
          <p:cNvPr id="583" name="Google Shape;583;p21"/>
          <p:cNvSpPr txBox="1"/>
          <p:nvPr/>
        </p:nvSpPr>
        <p:spPr>
          <a:xfrm>
            <a:off x="7406640" y="36576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Offline Payment (first-class)</a:t>
            </a:r>
            <a:endParaRPr/>
          </a:p>
        </p:txBody>
      </p:sp>
      <p:sp>
        <p:nvSpPr>
          <p:cNvPr id="584" name="Google Shape;584;p21"/>
          <p:cNvSpPr txBox="1"/>
          <p:nvPr/>
        </p:nvSpPr>
        <p:spPr>
          <a:xfrm>
            <a:off x="7406640" y="3886200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Markets without online coverage</a:t>
            </a:r>
            <a:endParaRPr/>
          </a:p>
        </p:txBody>
      </p:sp>
      <p:sp>
        <p:nvSpPr>
          <p:cNvPr id="585" name="Google Shape;585;p21"/>
          <p:cNvSpPr txBox="1"/>
          <p:nvPr/>
        </p:nvSpPr>
        <p:spPr>
          <a:xfrm>
            <a:off x="548628" y="4524730"/>
            <a:ext cx="1069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PAYMENT STATE MACHINE</a:t>
            </a:r>
            <a:endParaRPr/>
          </a:p>
        </p:txBody>
      </p:sp>
      <p:graphicFrame>
        <p:nvGraphicFramePr>
          <p:cNvPr id="586" name="Google Shape;586;p21"/>
          <p:cNvGraphicFramePr/>
          <p:nvPr/>
        </p:nvGraphicFramePr>
        <p:xfrm>
          <a:off x="548703" y="48920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{36BB4BFD-88E4-4783-9C64-90CA04ADB2B8}</a:tableStyleId>
              </a:tblPr>
              <a:tblGrid>
                <a:gridCol w="2743200"/>
                <a:gridCol w="4114800"/>
                <a:gridCol w="38404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From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Trigger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CREATED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PENDING &gt; PROCESSING &gt; SUCCEEDED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 payment flow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SUCCEEDED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PARTIALLY_REFUNDED / REFUNDED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or full refund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SUCCEEDED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DISPUTED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Payment provider dispute webhook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PENDING / PROCESSING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FAILED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Timeout or provider failure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2"/>
          <p:cNvSpPr/>
          <p:nvPr/>
        </p:nvSpPr>
        <p:spPr>
          <a:xfrm>
            <a:off x="731520" y="228600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92" name="Google Shape;592;p22"/>
          <p:cNvSpPr txBox="1"/>
          <p:nvPr/>
        </p:nvSpPr>
        <p:spPr>
          <a:xfrm>
            <a:off x="2011680" y="21031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Model &amp; APIs</a:t>
            </a:r>
            <a:endParaRPr/>
          </a:p>
        </p:txBody>
      </p:sp>
      <p:sp>
        <p:nvSpPr>
          <p:cNvPr id="593" name="Google Shape;593;p22"/>
          <p:cNvSpPr txBox="1"/>
          <p:nvPr/>
        </p:nvSpPr>
        <p:spPr>
          <a:xfrm>
            <a:off x="2011680" y="30175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40+ tables, comprehensive API surface, RBAC permissions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Model Overview</a:t>
            </a:r>
            <a:endParaRPr/>
          </a:p>
        </p:txBody>
      </p:sp>
      <p:sp>
        <p:nvSpPr>
          <p:cNvPr id="599" name="Google Shape;599;p23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Tenant is root aggregate; booking is the central transaction entity</a:t>
            </a:r>
            <a:endParaRPr/>
          </a:p>
        </p:txBody>
      </p:sp>
      <p:sp>
        <p:nvSpPr>
          <p:cNvPr id="601" name="Google Shape;601;p23"/>
          <p:cNvSpPr/>
          <p:nvPr/>
        </p:nvSpPr>
        <p:spPr>
          <a:xfrm>
            <a:off x="457200" y="1554480"/>
            <a:ext cx="3200400" cy="160020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3"/>
          <p:cNvSpPr/>
          <p:nvPr/>
        </p:nvSpPr>
        <p:spPr>
          <a:xfrm>
            <a:off x="457200" y="1554480"/>
            <a:ext cx="320040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3"/>
          <p:cNvSpPr txBox="1"/>
          <p:nvPr/>
        </p:nvSpPr>
        <p:spPr>
          <a:xfrm>
            <a:off x="594360" y="16276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PLATFORM</a:t>
            </a:r>
            <a:endParaRPr/>
          </a:p>
        </p:txBody>
      </p:sp>
      <p:sp>
        <p:nvSpPr>
          <p:cNvPr id="604" name="Google Shape;604;p23"/>
          <p:cNvSpPr txBox="1"/>
          <p:nvPr/>
        </p:nvSpPr>
        <p:spPr>
          <a:xfrm>
            <a:off x="594360" y="1874520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tenants</a:t>
            </a:r>
            <a:endParaRPr/>
          </a:p>
        </p:txBody>
      </p:sp>
      <p:sp>
        <p:nvSpPr>
          <p:cNvPr id="605" name="Google Shape;605;p23"/>
          <p:cNvSpPr txBox="1"/>
          <p:nvPr/>
        </p:nvSpPr>
        <p:spPr>
          <a:xfrm>
            <a:off x="594360" y="207568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users</a:t>
            </a:r>
            <a:endParaRPr/>
          </a:p>
        </p:txBody>
      </p:sp>
      <p:sp>
        <p:nvSpPr>
          <p:cNvPr id="606" name="Google Shape;606;p23"/>
          <p:cNvSpPr txBox="1"/>
          <p:nvPr/>
        </p:nvSpPr>
        <p:spPr>
          <a:xfrm>
            <a:off x="594360" y="227685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tenant_memberships</a:t>
            </a:r>
            <a:endParaRPr/>
          </a:p>
        </p:txBody>
      </p:sp>
      <p:sp>
        <p:nvSpPr>
          <p:cNvPr id="607" name="Google Shape;607;p23"/>
          <p:cNvSpPr txBox="1"/>
          <p:nvPr/>
        </p:nvSpPr>
        <p:spPr>
          <a:xfrm>
            <a:off x="594360" y="247802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team_invitations</a:t>
            </a:r>
            <a:endParaRPr/>
          </a:p>
        </p:txBody>
      </p:sp>
      <p:sp>
        <p:nvSpPr>
          <p:cNvPr id="608" name="Google Shape;608;p23"/>
          <p:cNvSpPr txBox="1"/>
          <p:nvPr/>
        </p:nvSpPr>
        <p:spPr>
          <a:xfrm>
            <a:off x="594360" y="2679192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api_keys</a:t>
            </a:r>
            <a:endParaRPr/>
          </a:p>
        </p:txBody>
      </p:sp>
      <p:sp>
        <p:nvSpPr>
          <p:cNvPr id="609" name="Google Shape;609;p23"/>
          <p:cNvSpPr/>
          <p:nvPr/>
        </p:nvSpPr>
        <p:spPr>
          <a:xfrm>
            <a:off x="457200" y="3337560"/>
            <a:ext cx="3200400" cy="160020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3"/>
          <p:cNvSpPr/>
          <p:nvPr/>
        </p:nvSpPr>
        <p:spPr>
          <a:xfrm>
            <a:off x="457200" y="3337560"/>
            <a:ext cx="320040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3"/>
          <p:cNvSpPr txBox="1"/>
          <p:nvPr/>
        </p:nvSpPr>
        <p:spPr>
          <a:xfrm>
            <a:off x="594360" y="34107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BOOKING</a:t>
            </a:r>
            <a:endParaRPr/>
          </a:p>
        </p:txBody>
      </p:sp>
      <p:sp>
        <p:nvSpPr>
          <p:cNvPr id="612" name="Google Shape;612;p23"/>
          <p:cNvSpPr txBox="1"/>
          <p:nvPr/>
        </p:nvSpPr>
        <p:spPr>
          <a:xfrm>
            <a:off x="594360" y="3657600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bookings</a:t>
            </a:r>
            <a:endParaRPr/>
          </a:p>
        </p:txBody>
      </p:sp>
      <p:sp>
        <p:nvSpPr>
          <p:cNvPr id="613" name="Google Shape;613;p23"/>
          <p:cNvSpPr txBox="1"/>
          <p:nvPr/>
        </p:nvSpPr>
        <p:spPr>
          <a:xfrm>
            <a:off x="594360" y="385876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booking_sessions</a:t>
            </a:r>
            <a:endParaRPr/>
          </a:p>
        </p:txBody>
      </p:sp>
      <p:sp>
        <p:nvSpPr>
          <p:cNvPr id="614" name="Google Shape;614;p23"/>
          <p:cNvSpPr txBox="1"/>
          <p:nvPr/>
        </p:nvSpPr>
        <p:spPr>
          <a:xfrm>
            <a:off x="594360" y="405993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booking_flows</a:t>
            </a:r>
            <a:endParaRPr/>
          </a:p>
        </p:txBody>
      </p:sp>
      <p:sp>
        <p:nvSpPr>
          <p:cNvPr id="615" name="Google Shape;615;p23"/>
          <p:cNvSpPr txBox="1"/>
          <p:nvPr/>
        </p:nvSpPr>
        <p:spPr>
          <a:xfrm>
            <a:off x="594360" y="426110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date_reservations</a:t>
            </a:r>
            <a:endParaRPr/>
          </a:p>
        </p:txBody>
      </p:sp>
      <p:sp>
        <p:nvSpPr>
          <p:cNvPr id="616" name="Google Shape;616;p23"/>
          <p:cNvSpPr txBox="1"/>
          <p:nvPr/>
        </p:nvSpPr>
        <p:spPr>
          <a:xfrm>
            <a:off x="594360" y="4462272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booking_state_history</a:t>
            </a:r>
            <a:endParaRPr/>
          </a:p>
        </p:txBody>
      </p:sp>
      <p:sp>
        <p:nvSpPr>
          <p:cNvPr id="617" name="Google Shape;617;p23"/>
          <p:cNvSpPr/>
          <p:nvPr/>
        </p:nvSpPr>
        <p:spPr>
          <a:xfrm>
            <a:off x="457200" y="5120640"/>
            <a:ext cx="3200400" cy="205740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3"/>
          <p:cNvSpPr/>
          <p:nvPr/>
        </p:nvSpPr>
        <p:spPr>
          <a:xfrm>
            <a:off x="457200" y="5120640"/>
            <a:ext cx="320040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3"/>
          <p:cNvSpPr txBox="1"/>
          <p:nvPr/>
        </p:nvSpPr>
        <p:spPr>
          <a:xfrm>
            <a:off x="594360" y="519379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SERVICES</a:t>
            </a:r>
            <a:endParaRPr/>
          </a:p>
        </p:txBody>
      </p:sp>
      <p:sp>
        <p:nvSpPr>
          <p:cNvPr id="620" name="Google Shape;620;p23"/>
          <p:cNvSpPr txBox="1"/>
          <p:nvPr/>
        </p:nvSpPr>
        <p:spPr>
          <a:xfrm>
            <a:off x="594360" y="5440680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services</a:t>
            </a:r>
            <a:endParaRPr/>
          </a:p>
        </p:txBody>
      </p:sp>
      <p:sp>
        <p:nvSpPr>
          <p:cNvPr id="621" name="Google Shape;621;p23"/>
          <p:cNvSpPr txBox="1"/>
          <p:nvPr/>
        </p:nvSpPr>
        <p:spPr>
          <a:xfrm>
            <a:off x="594360" y="564184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venues</a:t>
            </a:r>
            <a:endParaRPr/>
          </a:p>
        </p:txBody>
      </p:sp>
      <p:sp>
        <p:nvSpPr>
          <p:cNvPr id="622" name="Google Shape;622;p23"/>
          <p:cNvSpPr txBox="1"/>
          <p:nvPr/>
        </p:nvSpPr>
        <p:spPr>
          <a:xfrm>
            <a:off x="594360" y="584301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availability_rules</a:t>
            </a:r>
            <a:endParaRPr/>
          </a:p>
        </p:txBody>
      </p:sp>
      <p:sp>
        <p:nvSpPr>
          <p:cNvPr id="623" name="Google Shape;623;p23"/>
          <p:cNvSpPr txBox="1"/>
          <p:nvPr/>
        </p:nvSpPr>
        <p:spPr>
          <a:xfrm>
            <a:off x="594360" y="604418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blocked_dates</a:t>
            </a:r>
            <a:endParaRPr/>
          </a:p>
        </p:txBody>
      </p:sp>
      <p:sp>
        <p:nvSpPr>
          <p:cNvPr id="624" name="Google Shape;624;p23"/>
          <p:cNvSpPr txBox="1"/>
          <p:nvPr/>
        </p:nvSpPr>
        <p:spPr>
          <a:xfrm>
            <a:off x="594360" y="6245352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service_categories</a:t>
            </a:r>
            <a:endParaRPr/>
          </a:p>
        </p:txBody>
      </p:sp>
      <p:sp>
        <p:nvSpPr>
          <p:cNvPr id="625" name="Google Shape;625;p23"/>
          <p:cNvSpPr txBox="1"/>
          <p:nvPr/>
        </p:nvSpPr>
        <p:spPr>
          <a:xfrm>
            <a:off x="594360" y="6446520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service_providers</a:t>
            </a:r>
            <a:endParaRPr/>
          </a:p>
        </p:txBody>
      </p:sp>
      <p:sp>
        <p:nvSpPr>
          <p:cNvPr id="626" name="Google Shape;626;p23"/>
          <p:cNvSpPr txBox="1"/>
          <p:nvPr/>
        </p:nvSpPr>
        <p:spPr>
          <a:xfrm>
            <a:off x="594360" y="664768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service_addons</a:t>
            </a:r>
            <a:endParaRPr/>
          </a:p>
        </p:txBody>
      </p:sp>
      <p:sp>
        <p:nvSpPr>
          <p:cNvPr id="627" name="Google Shape;627;p23"/>
          <p:cNvSpPr/>
          <p:nvPr/>
        </p:nvSpPr>
        <p:spPr>
          <a:xfrm>
            <a:off x="3931920" y="1554480"/>
            <a:ext cx="3200400" cy="228600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3"/>
          <p:cNvSpPr/>
          <p:nvPr/>
        </p:nvSpPr>
        <p:spPr>
          <a:xfrm>
            <a:off x="3931920" y="1554480"/>
            <a:ext cx="320040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3"/>
          <p:cNvSpPr txBox="1"/>
          <p:nvPr/>
        </p:nvSpPr>
        <p:spPr>
          <a:xfrm>
            <a:off x="4069080" y="16276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PAYMENTS</a:t>
            </a:r>
            <a:endParaRPr/>
          </a:p>
        </p:txBody>
      </p:sp>
      <p:sp>
        <p:nvSpPr>
          <p:cNvPr id="630" name="Google Shape;630;p23"/>
          <p:cNvSpPr txBox="1"/>
          <p:nvPr/>
        </p:nvSpPr>
        <p:spPr>
          <a:xfrm>
            <a:off x="4069080" y="1874520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payments</a:t>
            </a:r>
            <a:endParaRPr/>
          </a:p>
        </p:txBody>
      </p:sp>
      <p:sp>
        <p:nvSpPr>
          <p:cNvPr id="631" name="Google Shape;631;p23"/>
          <p:cNvSpPr txBox="1"/>
          <p:nvPr/>
        </p:nvSpPr>
        <p:spPr>
          <a:xfrm>
            <a:off x="4069080" y="207568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invoices</a:t>
            </a:r>
            <a:endParaRPr/>
          </a:p>
        </p:txBody>
      </p:sp>
      <p:sp>
        <p:nvSpPr>
          <p:cNvPr id="632" name="Google Shape;632;p23"/>
          <p:cNvSpPr txBox="1"/>
          <p:nvPr/>
        </p:nvSpPr>
        <p:spPr>
          <a:xfrm>
            <a:off x="4069080" y="227685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invoice_line_items</a:t>
            </a:r>
            <a:endParaRPr/>
          </a:p>
        </p:txBody>
      </p:sp>
      <p:sp>
        <p:nvSpPr>
          <p:cNvPr id="633" name="Google Shape;633;p23"/>
          <p:cNvSpPr txBox="1"/>
          <p:nvPr/>
        </p:nvSpPr>
        <p:spPr>
          <a:xfrm>
            <a:off x="4069080" y="247802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payment_disputes</a:t>
            </a:r>
            <a:endParaRPr/>
          </a:p>
        </p:txBody>
      </p:sp>
      <p:sp>
        <p:nvSpPr>
          <p:cNvPr id="634" name="Google Shape;634;p23"/>
          <p:cNvSpPr txBox="1"/>
          <p:nvPr/>
        </p:nvSpPr>
        <p:spPr>
          <a:xfrm>
            <a:off x="4069080" y="2679192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payment_webhook_logs</a:t>
            </a:r>
            <a:endParaRPr/>
          </a:p>
        </p:txBody>
      </p:sp>
      <p:sp>
        <p:nvSpPr>
          <p:cNvPr id="635" name="Google Shape;635;p23"/>
          <p:cNvSpPr txBox="1"/>
          <p:nvPr/>
        </p:nvSpPr>
        <p:spPr>
          <a:xfrm>
            <a:off x="4069080" y="2880360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webhook_dead_letters</a:t>
            </a:r>
            <a:endParaRPr/>
          </a:p>
        </p:txBody>
      </p:sp>
      <p:sp>
        <p:nvSpPr>
          <p:cNvPr id="636" name="Google Shape;636;p23"/>
          <p:cNvSpPr txBox="1"/>
          <p:nvPr/>
        </p:nvSpPr>
        <p:spPr>
          <a:xfrm>
            <a:off x="4069080" y="30815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discounts</a:t>
            </a:r>
            <a:endParaRPr/>
          </a:p>
        </p:txBody>
      </p:sp>
      <p:sp>
        <p:nvSpPr>
          <p:cNvPr id="637" name="Google Shape;637;p23"/>
          <p:cNvSpPr txBox="1"/>
          <p:nvPr/>
        </p:nvSpPr>
        <p:spPr>
          <a:xfrm>
            <a:off x="4069080" y="328269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tax_rates</a:t>
            </a:r>
            <a:endParaRPr/>
          </a:p>
        </p:txBody>
      </p:sp>
      <p:sp>
        <p:nvSpPr>
          <p:cNvPr id="638" name="Google Shape;638;p23"/>
          <p:cNvSpPr/>
          <p:nvPr/>
        </p:nvSpPr>
        <p:spPr>
          <a:xfrm>
            <a:off x="3931920" y="4023360"/>
            <a:ext cx="3200400" cy="137160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3"/>
          <p:cNvSpPr/>
          <p:nvPr/>
        </p:nvSpPr>
        <p:spPr>
          <a:xfrm>
            <a:off x="3931920" y="4023360"/>
            <a:ext cx="320040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3"/>
          <p:cNvSpPr txBox="1"/>
          <p:nvPr/>
        </p:nvSpPr>
        <p:spPr>
          <a:xfrm>
            <a:off x="4069080" y="40965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/>
          </a:p>
        </p:txBody>
      </p:sp>
      <p:sp>
        <p:nvSpPr>
          <p:cNvPr id="641" name="Google Shape;641;p23"/>
          <p:cNvSpPr txBox="1"/>
          <p:nvPr/>
        </p:nvSpPr>
        <p:spPr>
          <a:xfrm>
            <a:off x="4069080" y="4343400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client_profiles</a:t>
            </a:r>
            <a:endParaRPr/>
          </a:p>
        </p:txBody>
      </p:sp>
      <p:sp>
        <p:nvSpPr>
          <p:cNvPr id="642" name="Google Shape;642;p23"/>
          <p:cNvSpPr txBox="1"/>
          <p:nvPr/>
        </p:nvSpPr>
        <p:spPr>
          <a:xfrm>
            <a:off x="4069080" y="454456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consent_records</a:t>
            </a:r>
            <a:endParaRPr/>
          </a:p>
        </p:txBody>
      </p:sp>
      <p:sp>
        <p:nvSpPr>
          <p:cNvPr id="643" name="Google Shape;643;p23"/>
          <p:cNvSpPr txBox="1"/>
          <p:nvPr/>
        </p:nvSpPr>
        <p:spPr>
          <a:xfrm>
            <a:off x="4069080" y="474573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data_requests</a:t>
            </a:r>
            <a:endParaRPr/>
          </a:p>
        </p:txBody>
      </p:sp>
      <p:sp>
        <p:nvSpPr>
          <p:cNvPr id="644" name="Google Shape;644;p23"/>
          <p:cNvSpPr txBox="1"/>
          <p:nvPr/>
        </p:nvSpPr>
        <p:spPr>
          <a:xfrm>
            <a:off x="4069080" y="494690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reviews</a:t>
            </a:r>
            <a:endParaRPr/>
          </a:p>
        </p:txBody>
      </p:sp>
      <p:sp>
        <p:nvSpPr>
          <p:cNvPr id="645" name="Google Shape;645;p23"/>
          <p:cNvSpPr/>
          <p:nvPr/>
        </p:nvSpPr>
        <p:spPr>
          <a:xfrm>
            <a:off x="7406640" y="1554480"/>
            <a:ext cx="3200400" cy="160020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3"/>
          <p:cNvSpPr/>
          <p:nvPr/>
        </p:nvSpPr>
        <p:spPr>
          <a:xfrm>
            <a:off x="7406640" y="1554480"/>
            <a:ext cx="320040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3"/>
          <p:cNvSpPr txBox="1"/>
          <p:nvPr/>
        </p:nvSpPr>
        <p:spPr>
          <a:xfrm>
            <a:off x="7543800" y="16276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COMMS</a:t>
            </a:r>
            <a:endParaRPr/>
          </a:p>
        </p:txBody>
      </p:sp>
      <p:sp>
        <p:nvSpPr>
          <p:cNvPr id="648" name="Google Shape;648;p23"/>
          <p:cNvSpPr txBox="1"/>
          <p:nvPr/>
        </p:nvSpPr>
        <p:spPr>
          <a:xfrm>
            <a:off x="7543800" y="1874520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communications</a:t>
            </a:r>
            <a:endParaRPr/>
          </a:p>
        </p:txBody>
      </p:sp>
      <p:sp>
        <p:nvSpPr>
          <p:cNvPr id="649" name="Google Shape;649;p23"/>
          <p:cNvSpPr txBox="1"/>
          <p:nvPr/>
        </p:nvSpPr>
        <p:spPr>
          <a:xfrm>
            <a:off x="7543800" y="207568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notifications</a:t>
            </a:r>
            <a:endParaRPr/>
          </a:p>
        </p:txBody>
      </p:sp>
      <p:sp>
        <p:nvSpPr>
          <p:cNvPr id="650" name="Google Shape;650;p23"/>
          <p:cNvSpPr txBox="1"/>
          <p:nvPr/>
        </p:nvSpPr>
        <p:spPr>
          <a:xfrm>
            <a:off x="7543800" y="227685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browser_push_subscriptions</a:t>
            </a:r>
            <a:endParaRPr/>
          </a:p>
        </p:txBody>
      </p:sp>
      <p:sp>
        <p:nvSpPr>
          <p:cNvPr id="651" name="Google Shape;651;p23"/>
          <p:cNvSpPr txBox="1"/>
          <p:nvPr/>
        </p:nvSpPr>
        <p:spPr>
          <a:xfrm>
            <a:off x="7543800" y="247802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calendar_connections</a:t>
            </a:r>
            <a:endParaRPr/>
          </a:p>
        </p:txBody>
      </p:sp>
      <p:sp>
        <p:nvSpPr>
          <p:cNvPr id="652" name="Google Shape;652;p23"/>
          <p:cNvSpPr txBox="1"/>
          <p:nvPr/>
        </p:nvSpPr>
        <p:spPr>
          <a:xfrm>
            <a:off x="7543800" y="2679192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calendar_events</a:t>
            </a:r>
            <a:endParaRPr/>
          </a:p>
        </p:txBody>
      </p:sp>
      <p:sp>
        <p:nvSpPr>
          <p:cNvPr id="653" name="Google Shape;653;p23"/>
          <p:cNvSpPr/>
          <p:nvPr/>
        </p:nvSpPr>
        <p:spPr>
          <a:xfrm>
            <a:off x="7406640" y="3337560"/>
            <a:ext cx="3200400" cy="182880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3"/>
          <p:cNvSpPr/>
          <p:nvPr/>
        </p:nvSpPr>
        <p:spPr>
          <a:xfrm>
            <a:off x="7406640" y="3337560"/>
            <a:ext cx="320040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3"/>
          <p:cNvSpPr txBox="1"/>
          <p:nvPr/>
        </p:nvSpPr>
        <p:spPr>
          <a:xfrm>
            <a:off x="7543800" y="34107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OPERATIONS</a:t>
            </a:r>
            <a:endParaRPr/>
          </a:p>
        </p:txBody>
      </p:sp>
      <p:sp>
        <p:nvSpPr>
          <p:cNvPr id="656" name="Google Shape;656;p23"/>
          <p:cNvSpPr txBox="1"/>
          <p:nvPr/>
        </p:nvSpPr>
        <p:spPr>
          <a:xfrm>
            <a:off x="7543800" y="3657600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audit_logs</a:t>
            </a:r>
            <a:endParaRPr/>
          </a:p>
        </p:txBody>
      </p:sp>
      <p:sp>
        <p:nvSpPr>
          <p:cNvPr id="657" name="Google Shape;657;p23"/>
          <p:cNvSpPr txBox="1"/>
          <p:nvPr/>
        </p:nvSpPr>
        <p:spPr>
          <a:xfrm>
            <a:off x="7543800" y="385876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support_tickets</a:t>
            </a:r>
            <a:endParaRPr/>
          </a:p>
        </p:txBody>
      </p:sp>
      <p:sp>
        <p:nvSpPr>
          <p:cNvPr id="658" name="Google Shape;658;p23"/>
          <p:cNvSpPr txBox="1"/>
          <p:nvPr/>
        </p:nvSpPr>
        <p:spPr>
          <a:xfrm>
            <a:off x="7543800" y="405993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feedback</a:t>
            </a:r>
            <a:endParaRPr/>
          </a:p>
        </p:txBody>
      </p:sp>
      <p:sp>
        <p:nvSpPr>
          <p:cNvPr id="659" name="Google Shape;659;p23"/>
          <p:cNvSpPr txBox="1"/>
          <p:nvPr/>
        </p:nvSpPr>
        <p:spPr>
          <a:xfrm>
            <a:off x="7543800" y="426110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import_jobs</a:t>
            </a:r>
            <a:endParaRPr/>
          </a:p>
        </p:txBody>
      </p:sp>
      <p:sp>
        <p:nvSpPr>
          <p:cNvPr id="660" name="Google Shape;660;p23"/>
          <p:cNvSpPr txBox="1"/>
          <p:nvPr/>
        </p:nvSpPr>
        <p:spPr>
          <a:xfrm>
            <a:off x="7543800" y="4462272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import_records</a:t>
            </a:r>
            <a:endParaRPr/>
          </a:p>
        </p:txBody>
      </p:sp>
      <p:sp>
        <p:nvSpPr>
          <p:cNvPr id="661" name="Google Shape;661;p23"/>
          <p:cNvSpPr txBox="1"/>
          <p:nvPr/>
        </p:nvSpPr>
        <p:spPr>
          <a:xfrm>
            <a:off x="7543800" y="4663440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referral_links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4"/>
          <p:cNvSpPr/>
          <p:nvPr/>
        </p:nvSpPr>
        <p:spPr>
          <a:xfrm>
            <a:off x="731520" y="228600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67" name="Google Shape;667;p24"/>
          <p:cNvSpPr txBox="1"/>
          <p:nvPr/>
        </p:nvSpPr>
        <p:spPr>
          <a:xfrm>
            <a:off x="2011680" y="21031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Communications, Security &amp; Compliance</a:t>
            </a:r>
            <a:endParaRPr/>
          </a:p>
        </p:txBody>
      </p:sp>
      <p:sp>
        <p:nvSpPr>
          <p:cNvPr id="668" name="Google Shape;668;p24"/>
          <p:cNvSpPr txBox="1"/>
          <p:nvPr/>
        </p:nvSpPr>
        <p:spPr>
          <a:xfrm>
            <a:off x="2011680" y="3428995"/>
            <a:ext cx="822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Email, SMS, push notifications, auth, GDPR, PCI DSS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5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Communications &amp; Notifications</a:t>
            </a:r>
            <a:endParaRPr/>
          </a:p>
        </p:txBody>
      </p:sp>
      <p:sp>
        <p:nvSpPr>
          <p:cNvPr id="674" name="Google Shape;674;p25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5"/>
          <p:cNvSpPr/>
          <p:nvPr/>
        </p:nvSpPr>
        <p:spPr>
          <a:xfrm>
            <a:off x="548640" y="1463040"/>
            <a:ext cx="3383280" cy="32004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5"/>
          <p:cNvSpPr/>
          <p:nvPr/>
        </p:nvSpPr>
        <p:spPr>
          <a:xfrm>
            <a:off x="548640" y="1463040"/>
            <a:ext cx="338328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5"/>
          <p:cNvSpPr txBox="1"/>
          <p:nvPr/>
        </p:nvSpPr>
        <p:spPr>
          <a:xfrm>
            <a:off x="731520" y="16002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1 -- Transactional</a:t>
            </a:r>
            <a:endParaRPr/>
          </a:p>
        </p:txBody>
      </p:sp>
      <p:sp>
        <p:nvSpPr>
          <p:cNvPr id="678" name="Google Shape;678;p25"/>
          <p:cNvSpPr txBox="1"/>
          <p:nvPr/>
        </p:nvSpPr>
        <p:spPr>
          <a:xfrm>
            <a:off x="731520" y="19659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Email via Resend (platform templates)</a:t>
            </a:r>
            <a:endParaRPr/>
          </a:p>
        </p:txBody>
      </p:sp>
      <p:sp>
        <p:nvSpPr>
          <p:cNvPr id="679" name="Google Shape;679;p25"/>
          <p:cNvSpPr txBox="1"/>
          <p:nvPr/>
        </p:nvSpPr>
        <p:spPr>
          <a:xfrm>
            <a:off x="731520" y="222199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Booking confirmation</a:t>
            </a:r>
            <a:endParaRPr/>
          </a:p>
        </p:txBody>
      </p:sp>
      <p:sp>
        <p:nvSpPr>
          <p:cNvPr id="680" name="Google Shape;680;p25"/>
          <p:cNvSpPr txBox="1"/>
          <p:nvPr/>
        </p:nvSpPr>
        <p:spPr>
          <a:xfrm>
            <a:off x="731520" y="2478024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Cancellation confirmation</a:t>
            </a:r>
            <a:endParaRPr/>
          </a:p>
        </p:txBody>
      </p:sp>
      <p:sp>
        <p:nvSpPr>
          <p:cNvPr id="681" name="Google Shape;681;p25"/>
          <p:cNvSpPr txBox="1"/>
          <p:nvPr/>
        </p:nvSpPr>
        <p:spPr>
          <a:xfrm>
            <a:off x="731520" y="2734056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24h reminder</a:t>
            </a:r>
            <a:endParaRPr/>
          </a:p>
        </p:txBody>
      </p:sp>
      <p:sp>
        <p:nvSpPr>
          <p:cNvPr id="682" name="Google Shape;682;p25"/>
          <p:cNvSpPr txBox="1"/>
          <p:nvPr/>
        </p:nvSpPr>
        <p:spPr>
          <a:xfrm>
            <a:off x="731520" y="299008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24h follow-up + rebooking link</a:t>
            </a:r>
            <a:endParaRPr/>
          </a:p>
        </p:txBody>
      </p:sp>
      <p:sp>
        <p:nvSpPr>
          <p:cNvPr id="683" name="Google Shape;683;p25"/>
          <p:cNvSpPr txBox="1"/>
          <p:nvPr/>
        </p:nvSpPr>
        <p:spPr>
          <a:xfrm>
            <a:off x="731520" y="32461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Payment receipt</a:t>
            </a:r>
            <a:endParaRPr/>
          </a:p>
        </p:txBody>
      </p:sp>
      <p:sp>
        <p:nvSpPr>
          <p:cNvPr id="684" name="Google Shape;684;p25"/>
          <p:cNvSpPr txBox="1"/>
          <p:nvPr/>
        </p:nvSpPr>
        <p:spPr>
          <a:xfrm>
            <a:off x="731520" y="350215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Provider SMS via Twilio</a:t>
            </a:r>
            <a:endParaRPr/>
          </a:p>
        </p:txBody>
      </p:sp>
      <p:sp>
        <p:nvSpPr>
          <p:cNvPr id="685" name="Google Shape;685;p25"/>
          <p:cNvSpPr txBox="1"/>
          <p:nvPr/>
        </p:nvSpPr>
        <p:spPr>
          <a:xfrm>
            <a:off x="731520" y="3758184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Browser push (Admin CRM)</a:t>
            </a:r>
            <a:endParaRPr/>
          </a:p>
        </p:txBody>
      </p:sp>
      <p:sp>
        <p:nvSpPr>
          <p:cNvPr id="686" name="Google Shape;686;p25"/>
          <p:cNvSpPr txBox="1"/>
          <p:nvPr/>
        </p:nvSpPr>
        <p:spPr>
          <a:xfrm>
            <a:off x="731520" y="4014216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Morning summary SMS</a:t>
            </a:r>
            <a:endParaRPr/>
          </a:p>
        </p:txBody>
      </p:sp>
      <p:sp>
        <p:nvSpPr>
          <p:cNvPr id="687" name="Google Shape;687;p25"/>
          <p:cNvSpPr txBox="1"/>
          <p:nvPr/>
        </p:nvSpPr>
        <p:spPr>
          <a:xfrm>
            <a:off x="731520" y="427024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Weekly digest email</a:t>
            </a:r>
            <a:endParaRPr/>
          </a:p>
        </p:txBody>
      </p:sp>
      <p:sp>
        <p:nvSpPr>
          <p:cNvPr id="688" name="Google Shape;688;p25"/>
          <p:cNvSpPr/>
          <p:nvPr/>
        </p:nvSpPr>
        <p:spPr>
          <a:xfrm>
            <a:off x="4114800" y="1463040"/>
            <a:ext cx="3383280" cy="32004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5"/>
          <p:cNvSpPr/>
          <p:nvPr/>
        </p:nvSpPr>
        <p:spPr>
          <a:xfrm>
            <a:off x="4114800" y="1463040"/>
            <a:ext cx="338328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5"/>
          <p:cNvSpPr txBox="1"/>
          <p:nvPr/>
        </p:nvSpPr>
        <p:spPr>
          <a:xfrm>
            <a:off x="4297680" y="16002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2+ -- Advanced</a:t>
            </a:r>
            <a:endParaRPr/>
          </a:p>
        </p:txBody>
      </p:sp>
      <p:sp>
        <p:nvSpPr>
          <p:cNvPr id="691" name="Google Shape;691;p25"/>
          <p:cNvSpPr txBox="1"/>
          <p:nvPr/>
        </p:nvSpPr>
        <p:spPr>
          <a:xfrm>
            <a:off x="4297680" y="19659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Custom branded email templates</a:t>
            </a:r>
            <a:endParaRPr/>
          </a:p>
        </p:txBody>
      </p:sp>
      <p:sp>
        <p:nvSpPr>
          <p:cNvPr id="692" name="Google Shape;692;p25"/>
          <p:cNvSpPr txBox="1"/>
          <p:nvPr/>
        </p:nvSpPr>
        <p:spPr>
          <a:xfrm>
            <a:off x="4297680" y="222199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Variable substitution UI (80+ vars)</a:t>
            </a:r>
            <a:endParaRPr/>
          </a:p>
        </p:txBody>
      </p:sp>
      <p:sp>
        <p:nvSpPr>
          <p:cNvPr id="693" name="Google Shape;693;p25"/>
          <p:cNvSpPr txBox="1"/>
          <p:nvPr/>
        </p:nvSpPr>
        <p:spPr>
          <a:xfrm>
            <a:off x="4297680" y="2478024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SMS to clients via Twilio</a:t>
            </a:r>
            <a:endParaRPr/>
          </a:p>
        </p:txBody>
      </p:sp>
      <p:sp>
        <p:nvSpPr>
          <p:cNvPr id="694" name="Google Shape;694;p25"/>
          <p:cNvSpPr txBox="1"/>
          <p:nvPr/>
        </p:nvSpPr>
        <p:spPr>
          <a:xfrm>
            <a:off x="4297680" y="2734056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In-app notifications (bell icon)</a:t>
            </a:r>
            <a:endParaRPr/>
          </a:p>
        </p:txBody>
      </p:sp>
      <p:sp>
        <p:nvSpPr>
          <p:cNvPr id="695" name="Google Shape;695;p25"/>
          <p:cNvSpPr txBox="1"/>
          <p:nvPr/>
        </p:nvSpPr>
        <p:spPr>
          <a:xfrm>
            <a:off x="4297680" y="299008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Mobile push (Expo Push)</a:t>
            </a:r>
            <a:endParaRPr/>
          </a:p>
        </p:txBody>
      </p:sp>
      <p:sp>
        <p:nvSpPr>
          <p:cNvPr id="696" name="Google Shape;696;p25"/>
          <p:cNvSpPr txBox="1"/>
          <p:nvPr/>
        </p:nvSpPr>
        <p:spPr>
          <a:xfrm>
            <a:off x="4297680" y="32461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Notification preferences per channel</a:t>
            </a:r>
            <a:endParaRPr/>
          </a:p>
        </p:txBody>
      </p:sp>
      <p:sp>
        <p:nvSpPr>
          <p:cNvPr id="697" name="Google Shape;697;p25"/>
          <p:cNvSpPr txBox="1"/>
          <p:nvPr/>
        </p:nvSpPr>
        <p:spPr>
          <a:xfrm>
            <a:off x="4297680" y="350215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Delivery tracking (7 statuses)</a:t>
            </a:r>
            <a:endParaRPr/>
          </a:p>
        </p:txBody>
      </p:sp>
      <p:sp>
        <p:nvSpPr>
          <p:cNvPr id="698" name="Google Shape;698;p25"/>
          <p:cNvSpPr txBox="1"/>
          <p:nvPr/>
        </p:nvSpPr>
        <p:spPr>
          <a:xfrm>
            <a:off x="4297680" y="3758184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Quiet hours (per timezone)</a:t>
            </a:r>
            <a:endParaRPr/>
          </a:p>
        </p:txBody>
      </p:sp>
      <p:sp>
        <p:nvSpPr>
          <p:cNvPr id="699" name="Google Shape;699;p25"/>
          <p:cNvSpPr txBox="1"/>
          <p:nvPr/>
        </p:nvSpPr>
        <p:spPr>
          <a:xfrm>
            <a:off x="4297680" y="4014216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Digest batching (hourly/daily/weekly)</a:t>
            </a:r>
            <a:endParaRPr/>
          </a:p>
        </p:txBody>
      </p:sp>
      <p:sp>
        <p:nvSpPr>
          <p:cNvPr id="700" name="Google Shape;700;p25"/>
          <p:cNvSpPr/>
          <p:nvPr/>
        </p:nvSpPr>
        <p:spPr>
          <a:xfrm>
            <a:off x="7680960" y="1463040"/>
            <a:ext cx="3749039" cy="32004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5"/>
          <p:cNvSpPr/>
          <p:nvPr/>
        </p:nvSpPr>
        <p:spPr>
          <a:xfrm>
            <a:off x="7680960" y="1463040"/>
            <a:ext cx="3749039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5"/>
          <p:cNvSpPr txBox="1"/>
          <p:nvPr/>
        </p:nvSpPr>
        <p:spPr>
          <a:xfrm>
            <a:off x="7863840" y="1600200"/>
            <a:ext cx="338327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/>
          </a:p>
        </p:txBody>
      </p:sp>
      <p:sp>
        <p:nvSpPr>
          <p:cNvPr id="703" name="Google Shape;703;p25"/>
          <p:cNvSpPr txBox="1"/>
          <p:nvPr/>
        </p:nvSpPr>
        <p:spPr>
          <a:xfrm>
            <a:off x="7863840" y="1965960"/>
            <a:ext cx="33832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Circuit breaker (3-state per provider)</a:t>
            </a:r>
            <a:endParaRPr/>
          </a:p>
        </p:txBody>
      </p:sp>
      <p:sp>
        <p:nvSpPr>
          <p:cNvPr id="704" name="Google Shape;704;p25"/>
          <p:cNvSpPr txBox="1"/>
          <p:nvPr/>
        </p:nvSpPr>
        <p:spPr>
          <a:xfrm>
            <a:off x="7863840" y="2221992"/>
            <a:ext cx="33832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20 trigger events across 5 categories</a:t>
            </a:r>
            <a:endParaRPr/>
          </a:p>
        </p:txBody>
      </p:sp>
      <p:sp>
        <p:nvSpPr>
          <p:cNvPr id="705" name="Google Shape;705;p25"/>
          <p:cNvSpPr txBox="1"/>
          <p:nvPr/>
        </p:nvSpPr>
        <p:spPr>
          <a:xfrm>
            <a:off x="7863840" y="2478024"/>
            <a:ext cx="33832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Workflow automations (preset defaults)</a:t>
            </a:r>
            <a:endParaRPr/>
          </a:p>
        </p:txBody>
      </p:sp>
      <p:sp>
        <p:nvSpPr>
          <p:cNvPr id="706" name="Google Shape;706;p25"/>
          <p:cNvSpPr txBox="1"/>
          <p:nvPr/>
        </p:nvSpPr>
        <p:spPr>
          <a:xfrm>
            <a:off x="7863840" y="2734056"/>
            <a:ext cx="33832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Template sandboxing (no code injection)</a:t>
            </a:r>
            <a:endParaRPr/>
          </a:p>
        </p:txBody>
      </p:sp>
      <p:sp>
        <p:nvSpPr>
          <p:cNvPr id="707" name="Google Shape;707;p25"/>
          <p:cNvSpPr txBox="1"/>
          <p:nvPr/>
        </p:nvSpPr>
        <p:spPr>
          <a:xfrm>
            <a:off x="7863840" y="2990088"/>
            <a:ext cx="33832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Bounce handling (hard/soft)</a:t>
            </a:r>
            <a:endParaRPr/>
          </a:p>
        </p:txBody>
      </p:sp>
      <p:sp>
        <p:nvSpPr>
          <p:cNvPr id="708" name="Google Shape;708;p25"/>
          <p:cNvSpPr txBox="1"/>
          <p:nvPr/>
        </p:nvSpPr>
        <p:spPr>
          <a:xfrm>
            <a:off x="7863840" y="3246120"/>
            <a:ext cx="33832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CAN-SPAM/TCPA compliance</a:t>
            </a:r>
            <a:endParaRPr/>
          </a:p>
        </p:txBody>
      </p:sp>
      <p:sp>
        <p:nvSpPr>
          <p:cNvPr id="709" name="Google Shape;709;p25"/>
          <p:cNvSpPr txBox="1"/>
          <p:nvPr/>
        </p:nvSpPr>
        <p:spPr>
          <a:xfrm>
            <a:off x="7863840" y="3502152"/>
            <a:ext cx="33832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Rate limiting on all channels</a:t>
            </a:r>
            <a:endParaRPr/>
          </a:p>
        </p:txBody>
      </p:sp>
      <p:sp>
        <p:nvSpPr>
          <p:cNvPr id="710" name="Google Shape;710;p25"/>
          <p:cNvSpPr txBox="1"/>
          <p:nvPr/>
        </p:nvSpPr>
        <p:spPr>
          <a:xfrm>
            <a:off x="7863840" y="3758184"/>
            <a:ext cx="33832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Background jobs via BullMQ</a:t>
            </a:r>
            <a:endParaRPr/>
          </a:p>
        </p:txBody>
      </p:sp>
      <p:sp>
        <p:nvSpPr>
          <p:cNvPr id="711" name="Google Shape;711;p25"/>
          <p:cNvSpPr txBox="1"/>
          <p:nvPr/>
        </p:nvSpPr>
        <p:spPr>
          <a:xfrm>
            <a:off x="7863840" y="4014216"/>
            <a:ext cx="33832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13 context variable groups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6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 &amp; Compliance</a:t>
            </a:r>
            <a:endParaRPr/>
          </a:p>
        </p:txBody>
      </p:sp>
      <p:sp>
        <p:nvSpPr>
          <p:cNvPr id="717" name="Google Shape;717;p26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Enterprise-grade security for a bootstrap-stage platform</a:t>
            </a:r>
            <a:endParaRPr/>
          </a:p>
        </p:txBody>
      </p:sp>
      <p:sp>
        <p:nvSpPr>
          <p:cNvPr id="719" name="Google Shape;719;p26"/>
          <p:cNvSpPr/>
          <p:nvPr/>
        </p:nvSpPr>
        <p:spPr>
          <a:xfrm>
            <a:off x="457200" y="1554474"/>
            <a:ext cx="2651700" cy="35553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6"/>
          <p:cNvSpPr/>
          <p:nvPr/>
        </p:nvSpPr>
        <p:spPr>
          <a:xfrm>
            <a:off x="457200" y="1554480"/>
            <a:ext cx="265176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6"/>
          <p:cNvSpPr txBox="1"/>
          <p:nvPr/>
        </p:nvSpPr>
        <p:spPr>
          <a:xfrm>
            <a:off x="640080" y="16916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/>
          </a:p>
        </p:txBody>
      </p:sp>
      <p:sp>
        <p:nvSpPr>
          <p:cNvPr id="722" name="Google Shape;722;p26"/>
          <p:cNvSpPr txBox="1"/>
          <p:nvPr/>
        </p:nvSpPr>
        <p:spPr>
          <a:xfrm>
            <a:off x="640105" y="1950213"/>
            <a:ext cx="22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JWT RS256 (15-min access, 7-day refresh)</a:t>
            </a:r>
            <a:endParaRPr/>
          </a:p>
        </p:txBody>
      </p:sp>
      <p:sp>
        <p:nvSpPr>
          <p:cNvPr id="723" name="Google Shape;723;p26"/>
          <p:cNvSpPr txBox="1"/>
          <p:nvPr/>
        </p:nvSpPr>
        <p:spPr>
          <a:xfrm>
            <a:off x="640080" y="231343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Google OAuth + Apple Sign-In</a:t>
            </a:r>
            <a:endParaRPr/>
          </a:p>
        </p:txBody>
      </p:sp>
      <p:sp>
        <p:nvSpPr>
          <p:cNvPr id="724" name="Google Shape;724;p26"/>
          <p:cNvSpPr txBox="1"/>
          <p:nvPr/>
        </p:nvSpPr>
        <p:spPr>
          <a:xfrm>
            <a:off x="640080" y="2569464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API key auth (SHA-256 hashed)</a:t>
            </a:r>
            <a:endParaRPr/>
          </a:p>
        </p:txBody>
      </p:sp>
      <p:sp>
        <p:nvSpPr>
          <p:cNvPr id="725" name="Google Shape;725;p26"/>
          <p:cNvSpPr txBox="1"/>
          <p:nvPr/>
        </p:nvSpPr>
        <p:spPr>
          <a:xfrm>
            <a:off x="640080" y="282549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MFA via TOTP (Phase 2)</a:t>
            </a:r>
            <a:endParaRPr/>
          </a:p>
        </p:txBody>
      </p:sp>
      <p:sp>
        <p:nvSpPr>
          <p:cNvPr id="726" name="Google Shape;726;p26"/>
          <p:cNvSpPr txBox="1"/>
          <p:nvPr/>
        </p:nvSpPr>
        <p:spPr>
          <a:xfrm>
            <a:off x="640080" y="30815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Token blacklisting on logout (Redis)</a:t>
            </a:r>
            <a:endParaRPr/>
          </a:p>
        </p:txBody>
      </p:sp>
      <p:sp>
        <p:nvSpPr>
          <p:cNvPr id="727" name="Google Shape;727;p26"/>
          <p:cNvSpPr/>
          <p:nvPr/>
        </p:nvSpPr>
        <p:spPr>
          <a:xfrm>
            <a:off x="3291850" y="1554474"/>
            <a:ext cx="2651700" cy="35553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6"/>
          <p:cNvSpPr/>
          <p:nvPr/>
        </p:nvSpPr>
        <p:spPr>
          <a:xfrm>
            <a:off x="3291840" y="1554480"/>
            <a:ext cx="265176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6"/>
          <p:cNvSpPr txBox="1"/>
          <p:nvPr/>
        </p:nvSpPr>
        <p:spPr>
          <a:xfrm>
            <a:off x="3474720" y="16916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Protection</a:t>
            </a:r>
            <a:endParaRPr/>
          </a:p>
        </p:txBody>
      </p:sp>
      <p:sp>
        <p:nvSpPr>
          <p:cNvPr id="730" name="Google Shape;730;p26"/>
          <p:cNvSpPr txBox="1"/>
          <p:nvPr/>
        </p:nvSpPr>
        <p:spPr>
          <a:xfrm>
            <a:off x="3474720" y="20574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PostgreSQL RLS tenant isolation</a:t>
            </a:r>
            <a:endParaRPr/>
          </a:p>
        </p:txBody>
      </p:sp>
      <p:sp>
        <p:nvSpPr>
          <p:cNvPr id="731" name="Google Shape;731;p26"/>
          <p:cNvSpPr txBox="1"/>
          <p:nvPr/>
        </p:nvSpPr>
        <p:spPr>
          <a:xfrm>
            <a:off x="3474720" y="231343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AES-256 encryption at rest for PII</a:t>
            </a:r>
            <a:endParaRPr/>
          </a:p>
        </p:txBody>
      </p:sp>
      <p:sp>
        <p:nvSpPr>
          <p:cNvPr id="732" name="Google Shape;732;p26"/>
          <p:cNvSpPr txBox="1"/>
          <p:nvPr/>
        </p:nvSpPr>
        <p:spPr>
          <a:xfrm>
            <a:off x="3474707" y="2658602"/>
            <a:ext cx="22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bcrypt (12 rounds) password hashing</a:t>
            </a:r>
            <a:endParaRPr/>
          </a:p>
        </p:txBody>
      </p:sp>
      <p:sp>
        <p:nvSpPr>
          <p:cNvPr id="733" name="Google Shape;733;p26"/>
          <p:cNvSpPr txBox="1"/>
          <p:nvPr/>
        </p:nvSpPr>
        <p:spPr>
          <a:xfrm>
            <a:off x="3474707" y="3003784"/>
            <a:ext cx="22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Prisma parameterized queries (no SQL injection)</a:t>
            </a:r>
            <a:endParaRPr/>
          </a:p>
        </p:txBody>
      </p:sp>
      <p:sp>
        <p:nvSpPr>
          <p:cNvPr id="734" name="Google Shape;734;p26"/>
          <p:cNvSpPr txBox="1"/>
          <p:nvPr/>
        </p:nvSpPr>
        <p:spPr>
          <a:xfrm>
            <a:off x="3474707" y="3438128"/>
            <a:ext cx="228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HSTS + TLS 1.3 only</a:t>
            </a:r>
            <a:endParaRPr/>
          </a:p>
        </p:txBody>
      </p:sp>
      <p:sp>
        <p:nvSpPr>
          <p:cNvPr id="735" name="Google Shape;735;p26"/>
          <p:cNvSpPr/>
          <p:nvPr/>
        </p:nvSpPr>
        <p:spPr>
          <a:xfrm>
            <a:off x="6126475" y="1554499"/>
            <a:ext cx="2651700" cy="35553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6"/>
          <p:cNvSpPr/>
          <p:nvPr/>
        </p:nvSpPr>
        <p:spPr>
          <a:xfrm>
            <a:off x="6126480" y="1554480"/>
            <a:ext cx="265176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6"/>
          <p:cNvSpPr txBox="1"/>
          <p:nvPr/>
        </p:nvSpPr>
        <p:spPr>
          <a:xfrm>
            <a:off x="6309360" y="16916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Compliance</a:t>
            </a:r>
            <a:endParaRPr/>
          </a:p>
        </p:txBody>
      </p:sp>
      <p:sp>
        <p:nvSpPr>
          <p:cNvPr id="738" name="Google Shape;738;p26"/>
          <p:cNvSpPr txBox="1"/>
          <p:nvPr/>
        </p:nvSpPr>
        <p:spPr>
          <a:xfrm>
            <a:off x="6309360" y="2057400"/>
            <a:ext cx="228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GDPR: consent management, data export,right to erasure, DPA (Article 28)</a:t>
            </a:r>
            <a:endParaRPr/>
          </a:p>
        </p:txBody>
      </p:sp>
      <p:sp>
        <p:nvSpPr>
          <p:cNvPr id="739" name="Google Shape;739;p26"/>
          <p:cNvSpPr txBox="1"/>
          <p:nvPr/>
        </p:nvSpPr>
        <p:spPr>
          <a:xfrm>
            <a:off x="6309360" y="2783732"/>
            <a:ext cx="2286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PCI DSS: provider-side tokenization</a:t>
            </a:r>
            <a:b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  (no card data on Savspot servers)</a:t>
            </a:r>
            <a:endParaRPr/>
          </a:p>
        </p:txBody>
      </p:sp>
      <p:sp>
        <p:nvSpPr>
          <p:cNvPr id="740" name="Google Shape;740;p26"/>
          <p:cNvSpPr txBox="1"/>
          <p:nvPr/>
        </p:nvSpPr>
        <p:spPr>
          <a:xfrm>
            <a:off x="6309348" y="3614714"/>
            <a:ext cx="22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CCPA: do not sell, right to know/delete</a:t>
            </a:r>
            <a:endParaRPr/>
          </a:p>
        </p:txBody>
      </p:sp>
      <p:sp>
        <p:nvSpPr>
          <p:cNvPr id="741" name="Google Shape;741;p26"/>
          <p:cNvSpPr txBox="1"/>
          <p:nvPr/>
        </p:nvSpPr>
        <p:spPr>
          <a:xfrm>
            <a:off x="6309335" y="4066846"/>
            <a:ext cx="228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WCAG 2.1 AA: all public pages</a:t>
            </a:r>
            <a:endParaRPr/>
          </a:p>
        </p:txBody>
      </p:sp>
      <p:sp>
        <p:nvSpPr>
          <p:cNvPr id="742" name="Google Shape;742;p26"/>
          <p:cNvSpPr txBox="1"/>
          <p:nvPr/>
        </p:nvSpPr>
        <p:spPr>
          <a:xfrm>
            <a:off x="6309348" y="4417978"/>
            <a:ext cx="22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CAN-SPAM/TCPA: opt-out mechanisms</a:t>
            </a:r>
            <a:endParaRPr/>
          </a:p>
        </p:txBody>
      </p:sp>
      <p:sp>
        <p:nvSpPr>
          <p:cNvPr id="743" name="Google Shape;743;p26"/>
          <p:cNvSpPr/>
          <p:nvPr/>
        </p:nvSpPr>
        <p:spPr>
          <a:xfrm>
            <a:off x="8961125" y="1554474"/>
            <a:ext cx="2651700" cy="35553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6"/>
          <p:cNvSpPr/>
          <p:nvPr/>
        </p:nvSpPr>
        <p:spPr>
          <a:xfrm>
            <a:off x="8961120" y="1554480"/>
            <a:ext cx="26517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6"/>
          <p:cNvSpPr txBox="1"/>
          <p:nvPr/>
        </p:nvSpPr>
        <p:spPr>
          <a:xfrm>
            <a:off x="9144000" y="16916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Operations</a:t>
            </a:r>
            <a:endParaRPr/>
          </a:p>
        </p:txBody>
      </p:sp>
      <p:sp>
        <p:nvSpPr>
          <p:cNvPr id="746" name="Google Shape;746;p26"/>
          <p:cNvSpPr txBox="1"/>
          <p:nvPr/>
        </p:nvSpPr>
        <p:spPr>
          <a:xfrm>
            <a:off x="9144000" y="20574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Audit logging (16 action types, 2yr retention)</a:t>
            </a:r>
            <a:endParaRPr/>
          </a:p>
        </p:txBody>
      </p:sp>
      <p:sp>
        <p:nvSpPr>
          <p:cNvPr id="747" name="Google Shape;747;p26"/>
          <p:cNvSpPr txBox="1"/>
          <p:nvPr/>
        </p:nvSpPr>
        <p:spPr>
          <a:xfrm>
            <a:off x="9143925" y="2475732"/>
            <a:ext cx="22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Breach response lifecycle (6 stages)</a:t>
            </a:r>
            <a:endParaRPr/>
          </a:p>
        </p:txBody>
      </p:sp>
      <p:sp>
        <p:nvSpPr>
          <p:cNvPr id="748" name="Google Shape;748;p26"/>
          <p:cNvSpPr txBox="1"/>
          <p:nvPr/>
        </p:nvSpPr>
        <p:spPr>
          <a:xfrm>
            <a:off x="9143950" y="2894077"/>
            <a:ext cx="228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Rate limiting (16 scopes)</a:t>
            </a:r>
            <a:endParaRPr/>
          </a:p>
        </p:txBody>
      </p:sp>
      <p:sp>
        <p:nvSpPr>
          <p:cNvPr id="749" name="Google Shape;749;p26"/>
          <p:cNvSpPr txBox="1"/>
          <p:nvPr/>
        </p:nvSpPr>
        <p:spPr>
          <a:xfrm>
            <a:off x="9143950" y="3194959"/>
            <a:ext cx="22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CSP headers + DOMPurify (XSS prevention)</a:t>
            </a:r>
            <a:endParaRPr/>
          </a:p>
        </p:txBody>
      </p:sp>
      <p:sp>
        <p:nvSpPr>
          <p:cNvPr id="750" name="Google Shape;750;p26"/>
          <p:cNvSpPr txBox="1"/>
          <p:nvPr/>
        </p:nvSpPr>
        <p:spPr>
          <a:xfrm>
            <a:off x="9143950" y="3474728"/>
            <a:ext cx="22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Dependency scanning (npm audit + Snyk)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27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AI-Powered Support &amp; Development Pipeline</a:t>
            </a:r>
            <a:endParaRPr/>
          </a:p>
        </p:txBody>
      </p:sp>
      <p:sp>
        <p:nvSpPr>
          <p:cNvPr id="756" name="Google Shape;756;p27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7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Three-tier AI system: Claude Code + Qwen3 (local) + Open Claw (24/7)</a:t>
            </a:r>
            <a:endParaRPr/>
          </a:p>
        </p:txBody>
      </p:sp>
      <p:sp>
        <p:nvSpPr>
          <p:cNvPr id="758" name="Google Shape;758;p27"/>
          <p:cNvSpPr/>
          <p:nvPr/>
        </p:nvSpPr>
        <p:spPr>
          <a:xfrm>
            <a:off x="548640" y="1554480"/>
            <a:ext cx="3474720" cy="256032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7"/>
          <p:cNvSpPr/>
          <p:nvPr/>
        </p:nvSpPr>
        <p:spPr>
          <a:xfrm>
            <a:off x="548640" y="1554480"/>
            <a:ext cx="34747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7"/>
          <p:cNvSpPr txBox="1"/>
          <p:nvPr/>
        </p:nvSpPr>
        <p:spPr>
          <a:xfrm>
            <a:off x="731520" y="16916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Complexity Tier</a:t>
            </a:r>
            <a:endParaRPr/>
          </a:p>
        </p:txBody>
      </p:sp>
      <p:sp>
        <p:nvSpPr>
          <p:cNvPr id="761" name="Google Shape;761;p27"/>
          <p:cNvSpPr txBox="1"/>
          <p:nvPr/>
        </p:nvSpPr>
        <p:spPr>
          <a:xfrm>
            <a:off x="731520" y="196596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Code</a:t>
            </a:r>
            <a:endParaRPr/>
          </a:p>
        </p:txBody>
      </p:sp>
      <p:sp>
        <p:nvSpPr>
          <p:cNvPr id="762" name="Google Shape;762;p27"/>
          <p:cNvSpPr txBox="1"/>
          <p:nvPr/>
        </p:nvSpPr>
        <p:spPr>
          <a:xfrm>
            <a:off x="731520" y="233172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Cloud ($100/mo)</a:t>
            </a:r>
            <a:endParaRPr/>
          </a:p>
        </p:txBody>
      </p:sp>
      <p:sp>
        <p:nvSpPr>
          <p:cNvPr id="763" name="Google Shape;763;p27"/>
          <p:cNvSpPr txBox="1"/>
          <p:nvPr/>
        </p:nvSpPr>
        <p:spPr>
          <a:xfrm>
            <a:off x="731520" y="2651760"/>
            <a:ext cx="3108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Complex architecture decisions, booking flow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engine, payment state machine, PR review,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multi-file orchestration</a:t>
            </a:r>
            <a:endParaRPr/>
          </a:p>
        </p:txBody>
      </p:sp>
      <p:sp>
        <p:nvSpPr>
          <p:cNvPr id="764" name="Google Shape;764;p27"/>
          <p:cNvSpPr/>
          <p:nvPr/>
        </p:nvSpPr>
        <p:spPr>
          <a:xfrm>
            <a:off x="4251960" y="1554480"/>
            <a:ext cx="3474720" cy="256032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7"/>
          <p:cNvSpPr/>
          <p:nvPr/>
        </p:nvSpPr>
        <p:spPr>
          <a:xfrm>
            <a:off x="4251960" y="1554480"/>
            <a:ext cx="347472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7"/>
          <p:cNvSpPr txBox="1"/>
          <p:nvPr/>
        </p:nvSpPr>
        <p:spPr>
          <a:xfrm>
            <a:off x="4434840" y="16916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Volume Tier</a:t>
            </a:r>
            <a:endParaRPr/>
          </a:p>
        </p:txBody>
      </p:sp>
      <p:sp>
        <p:nvSpPr>
          <p:cNvPr id="767" name="Google Shape;767;p27"/>
          <p:cNvSpPr txBox="1"/>
          <p:nvPr/>
        </p:nvSpPr>
        <p:spPr>
          <a:xfrm>
            <a:off x="4434840" y="196596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Qwen3 (128GB Local)</a:t>
            </a:r>
            <a:endParaRPr/>
          </a:p>
        </p:txBody>
      </p:sp>
      <p:sp>
        <p:nvSpPr>
          <p:cNvPr id="768" name="Google Shape;768;p27"/>
          <p:cNvSpPr txBox="1"/>
          <p:nvPr/>
        </p:nvSpPr>
        <p:spPr>
          <a:xfrm>
            <a:off x="4434840" y="233172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gmktec evo x2, zero marginal cost</a:t>
            </a:r>
            <a:endParaRPr/>
          </a:p>
        </p:txBody>
      </p:sp>
      <p:sp>
        <p:nvSpPr>
          <p:cNvPr id="769" name="Google Shape;769;p27"/>
          <p:cNvSpPr txBox="1"/>
          <p:nvPr/>
        </p:nvSpPr>
        <p:spPr>
          <a:xfrm>
            <a:off x="4434840" y="2651760"/>
            <a:ext cx="3108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CRUD scaffolding, Prisma migrations, React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components, Zod schemas, test factories,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documentation generation</a:t>
            </a:r>
            <a:endParaRPr/>
          </a:p>
        </p:txBody>
      </p:sp>
      <p:sp>
        <p:nvSpPr>
          <p:cNvPr id="770" name="Google Shape;770;p27"/>
          <p:cNvSpPr/>
          <p:nvPr/>
        </p:nvSpPr>
        <p:spPr>
          <a:xfrm>
            <a:off x="7955280" y="1554480"/>
            <a:ext cx="3474720" cy="256032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7"/>
          <p:cNvSpPr/>
          <p:nvPr/>
        </p:nvSpPr>
        <p:spPr>
          <a:xfrm>
            <a:off x="7955280" y="1554480"/>
            <a:ext cx="347472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7"/>
          <p:cNvSpPr txBox="1"/>
          <p:nvPr/>
        </p:nvSpPr>
        <p:spPr>
          <a:xfrm>
            <a:off x="8138160" y="16916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Monitoring Tier</a:t>
            </a:r>
            <a:endParaRPr/>
          </a:p>
        </p:txBody>
      </p:sp>
      <p:sp>
        <p:nvSpPr>
          <p:cNvPr id="773" name="Google Shape;773;p27"/>
          <p:cNvSpPr txBox="1"/>
          <p:nvPr/>
        </p:nvSpPr>
        <p:spPr>
          <a:xfrm>
            <a:off x="8138160" y="196596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 Claw</a:t>
            </a:r>
            <a:endParaRPr/>
          </a:p>
        </p:txBody>
      </p:sp>
      <p:sp>
        <p:nvSpPr>
          <p:cNvPr id="774" name="Google Shape;774;p27"/>
          <p:cNvSpPr txBox="1"/>
          <p:nvPr/>
        </p:nvSpPr>
        <p:spPr>
          <a:xfrm>
            <a:off x="8138160" y="233172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24/7 local, autonomous</a:t>
            </a:r>
            <a:endParaRPr/>
          </a:p>
        </p:txBody>
      </p:sp>
      <p:sp>
        <p:nvSpPr>
          <p:cNvPr id="775" name="Google Shape;775;p27"/>
          <p:cNvSpPr txBox="1"/>
          <p:nvPr/>
        </p:nvSpPr>
        <p:spPr>
          <a:xfrm>
            <a:off x="8138160" y="2651760"/>
            <a:ext cx="3108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CI monitoring, deployment health, error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tracking triage, support ticket L1 resolution,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development support</a:t>
            </a:r>
            <a:endParaRPr/>
          </a:p>
        </p:txBody>
      </p:sp>
      <p:sp>
        <p:nvSpPr>
          <p:cNvPr id="776" name="Google Shape;776;p27"/>
          <p:cNvSpPr txBox="1"/>
          <p:nvPr/>
        </p:nvSpPr>
        <p:spPr>
          <a:xfrm>
            <a:off x="548640" y="448056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AI-POWERED SUPPORT TRIAGE PIPELINE</a:t>
            </a:r>
            <a:endParaRPr/>
          </a:p>
        </p:txBody>
      </p:sp>
      <p:graphicFrame>
        <p:nvGraphicFramePr>
          <p:cNvPr id="777" name="Google Shape;777;p27"/>
          <p:cNvGraphicFramePr/>
          <p:nvPr/>
        </p:nvGraphicFramePr>
        <p:xfrm>
          <a:off x="548640" y="4846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{36BB4BFD-88E4-4783-9C64-90CA04ADB2B8}</a:tableStyleId>
              </a:tblPr>
              <a:tblGrid>
                <a:gridCol w="1828800"/>
                <a:gridCol w="2560325"/>
                <a:gridCol w="63093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Step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Actor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 Classification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Claw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Classify severity (LOW/MED/HIGH/CRITICAL), match known patterns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 Investigation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Qwen3 / Claude Code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Analyze against codebase, error logs, recent deployments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 Resolution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Qwen3 / Claude Code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Auto-respond (AI_RESOLVED) or prepare fix for dev review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 Escalation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Claw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Route unresolvable tickets to NEEDS_MANUAL_REVIEW + notify dev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28"/>
          <p:cNvSpPr/>
          <p:nvPr/>
        </p:nvSpPr>
        <p:spPr>
          <a:xfrm>
            <a:off x="731520" y="228600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783" name="Google Shape;783;p28"/>
          <p:cNvSpPr txBox="1"/>
          <p:nvPr/>
        </p:nvSpPr>
        <p:spPr>
          <a:xfrm>
            <a:off x="2011680" y="21031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Go-to-Market Strategy</a:t>
            </a:r>
            <a:endParaRPr/>
          </a:p>
        </p:txBody>
      </p:sp>
      <p:sp>
        <p:nvSpPr>
          <p:cNvPr id="784" name="Google Shape;784;p28"/>
          <p:cNvSpPr txBox="1"/>
          <p:nvPr/>
        </p:nvSpPr>
        <p:spPr>
          <a:xfrm>
            <a:off x="2011680" y="30175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Design partner program, concierge launch, distribution channels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29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 Partner Program</a:t>
            </a:r>
            <a:endParaRPr/>
          </a:p>
        </p:txBody>
      </p:sp>
      <p:sp>
        <p:nvSpPr>
          <p:cNvPr id="790" name="Google Shape;790;p29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9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Marcus (barber, 32) -- 90-day structured parallel-run with Booksy</a:t>
            </a:r>
            <a:endParaRPr/>
          </a:p>
        </p:txBody>
      </p:sp>
      <p:sp>
        <p:nvSpPr>
          <p:cNvPr id="792" name="Google Shape;792;p29"/>
          <p:cNvSpPr/>
          <p:nvPr/>
        </p:nvSpPr>
        <p:spPr>
          <a:xfrm>
            <a:off x="548640" y="1337155"/>
            <a:ext cx="5029200" cy="27432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9"/>
          <p:cNvSpPr/>
          <p:nvPr/>
        </p:nvSpPr>
        <p:spPr>
          <a:xfrm>
            <a:off x="548640" y="1348080"/>
            <a:ext cx="5029200" cy="507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9"/>
          <p:cNvSpPr txBox="1"/>
          <p:nvPr/>
        </p:nvSpPr>
        <p:spPr>
          <a:xfrm>
            <a:off x="777240" y="1474315"/>
            <a:ext cx="4572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PARTNERSHIP STRUCTURE</a:t>
            </a:r>
            <a:endParaRPr/>
          </a:p>
        </p:txBody>
      </p:sp>
      <p:sp>
        <p:nvSpPr>
          <p:cNvPr id="795" name="Google Shape;795;p29"/>
          <p:cNvSpPr txBox="1"/>
          <p:nvPr/>
        </p:nvSpPr>
        <p:spPr>
          <a:xfrm>
            <a:off x="777240" y="1794355"/>
            <a:ext cx="45720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Duration: 90 days (one quarter of signal)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Route 3-5 real clients/week via SavSpot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10-minute weekly check-in (text/voice)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Flag friction points in real-time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SavSpot commits: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Import data before day one (clients, services)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Respond to feedback within 24 hours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Ship at least one fix per week from input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Be transparent about what is not yet built</a:t>
            </a:r>
            <a:endParaRPr/>
          </a:p>
        </p:txBody>
      </p:sp>
      <p:sp>
        <p:nvSpPr>
          <p:cNvPr id="796" name="Google Shape;796;p29"/>
          <p:cNvSpPr/>
          <p:nvPr/>
        </p:nvSpPr>
        <p:spPr>
          <a:xfrm>
            <a:off x="5852160" y="1337155"/>
            <a:ext cx="5577900" cy="27432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9"/>
          <p:cNvSpPr/>
          <p:nvPr/>
        </p:nvSpPr>
        <p:spPr>
          <a:xfrm>
            <a:off x="5852160" y="1348080"/>
            <a:ext cx="5577900" cy="507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9"/>
          <p:cNvSpPr txBox="1"/>
          <p:nvPr/>
        </p:nvSpPr>
        <p:spPr>
          <a:xfrm>
            <a:off x="6080760" y="1474315"/>
            <a:ext cx="512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GOOGLE CALENDAR BRIDGE</a:t>
            </a:r>
            <a:endParaRPr/>
          </a:p>
        </p:txBody>
      </p:sp>
      <p:sp>
        <p:nvSpPr>
          <p:cNvPr id="799" name="Google Shape;799;p29"/>
          <p:cNvSpPr txBox="1"/>
          <p:nvPr/>
        </p:nvSpPr>
        <p:spPr>
          <a:xfrm>
            <a:off x="6080760" y="1794355"/>
            <a:ext cx="5120700" cy="22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Booksy &gt; Google Calendar &gt; SavSpot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1. Barber connects Google Calendar to both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2. Booksy exports appointments to GCal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3. SavSpot INBOUND sync picks up GCal events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4. SavSpot shows those slots as unavailable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5. SavSpot bookings sync to GCal (OUTBOUND)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6. Manual block in Booksy (closed ecosystem)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Latency: ~20-45 min (acceptable for advance bookings)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Double-booking risk window: minimal</a:t>
            </a:r>
            <a:endParaRPr/>
          </a:p>
        </p:txBody>
      </p:sp>
      <p:sp>
        <p:nvSpPr>
          <p:cNvPr id="800" name="Google Shape;800;p29"/>
          <p:cNvSpPr txBox="1"/>
          <p:nvPr/>
        </p:nvSpPr>
        <p:spPr>
          <a:xfrm>
            <a:off x="548640" y="4219050"/>
            <a:ext cx="1069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SIGNAL COLLECTION FRAMEWORK</a:t>
            </a:r>
            <a:endParaRPr/>
          </a:p>
        </p:txBody>
      </p:sp>
      <p:graphicFrame>
        <p:nvGraphicFramePr>
          <p:cNvPr id="801" name="Google Shape;801;p29"/>
          <p:cNvGraphicFramePr/>
          <p:nvPr/>
        </p:nvGraphicFramePr>
        <p:xfrm>
          <a:off x="548703" y="45005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{36BB4BFD-88E4-4783-9C64-90CA04ADB2B8}</a:tableStyleId>
              </a:tblPr>
              <a:tblGrid>
                <a:gridCol w="1645925"/>
                <a:gridCol w="4572000"/>
                <a:gridCol w="44805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Indicator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Reveals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Weeks 1-4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 he check SavSpot unprompted?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Engagement vs. obligation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Weeks 1-4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 he route more than 3-5 clients?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 excitement level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Weeks 4-8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 he prefer SavSpot for any task?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Workflow replacement signal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Weeks 4-8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 he share the link outside test group?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Organic virality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Weeks 8-12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"Would you cancel Booksy tomorrow?"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Product-market fit (the kill question)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0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Concierge Launch &amp; Distribution Channels</a:t>
            </a:r>
            <a:endParaRPr/>
          </a:p>
        </p:txBody>
      </p:sp>
      <p:sp>
        <p:nvSpPr>
          <p:cNvPr id="807" name="Google Shape;807;p30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0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Collison installation model -- set up SavSpot for users on the spot</a:t>
            </a:r>
            <a:endParaRPr/>
          </a:p>
        </p:txBody>
      </p:sp>
      <p:sp>
        <p:nvSpPr>
          <p:cNvPr id="809" name="Google Shape;809;p30"/>
          <p:cNvSpPr/>
          <p:nvPr/>
        </p:nvSpPr>
        <p:spPr>
          <a:xfrm>
            <a:off x="548650" y="1554474"/>
            <a:ext cx="5486400" cy="36168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0"/>
          <p:cNvSpPr/>
          <p:nvPr/>
        </p:nvSpPr>
        <p:spPr>
          <a:xfrm>
            <a:off x="548640" y="1554480"/>
            <a:ext cx="548640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0"/>
          <p:cNvSpPr txBox="1"/>
          <p:nvPr/>
        </p:nvSpPr>
        <p:spPr>
          <a:xfrm>
            <a:off x="777240" y="16916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15-MINUTE DEMO + COLLISON INSTALLATION</a:t>
            </a:r>
            <a:endParaRPr/>
          </a:p>
        </p:txBody>
      </p:sp>
      <p:sp>
        <p:nvSpPr>
          <p:cNvPr id="812" name="Google Shape;812;p30"/>
          <p:cNvSpPr txBox="1"/>
          <p:nvPr/>
        </p:nvSpPr>
        <p:spPr>
          <a:xfrm>
            <a:off x="777240" y="205740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Min 1-3:</a:t>
            </a:r>
            <a:endParaRPr/>
          </a:p>
        </p:txBody>
      </p:sp>
      <p:sp>
        <p:nvSpPr>
          <p:cNvPr id="813" name="Google Shape;813;p30"/>
          <p:cNvSpPr txBox="1"/>
          <p:nvPr/>
        </p:nvSpPr>
        <p:spPr>
          <a:xfrm>
            <a:off x="2148840" y="205740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Discovery -- "Walk me through how</a:t>
            </a:r>
            <a:b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you handle bookings right now"</a:t>
            </a:r>
            <a:endParaRPr/>
          </a:p>
        </p:txBody>
      </p:sp>
      <p:sp>
        <p:nvSpPr>
          <p:cNvPr id="814" name="Google Shape;814;p30"/>
          <p:cNvSpPr txBox="1"/>
          <p:nvPr/>
        </p:nvSpPr>
        <p:spPr>
          <a:xfrm>
            <a:off x="777240" y="256032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Min 3-10:</a:t>
            </a:r>
            <a:endParaRPr/>
          </a:p>
        </p:txBody>
      </p:sp>
      <p:sp>
        <p:nvSpPr>
          <p:cNvPr id="815" name="Google Shape;815;p30"/>
          <p:cNvSpPr txBox="1"/>
          <p:nvPr/>
        </p:nvSpPr>
        <p:spPr>
          <a:xfrm>
            <a:off x="2148840" y="25603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Show 2-3 features on THEIR phone</a:t>
            </a:r>
            <a:b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using THEIR business data</a:t>
            </a:r>
            <a:endParaRPr/>
          </a:p>
        </p:txBody>
      </p:sp>
      <p:sp>
        <p:nvSpPr>
          <p:cNvPr id="816" name="Google Shape;816;p30"/>
          <p:cNvSpPr txBox="1"/>
          <p:nvPr/>
        </p:nvSpPr>
        <p:spPr>
          <a:xfrm>
            <a:off x="777240" y="306324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Min 10-12:</a:t>
            </a:r>
            <a:endParaRPr/>
          </a:p>
        </p:txBody>
      </p:sp>
      <p:sp>
        <p:nvSpPr>
          <p:cNvPr id="817" name="Google Shape;817;p30"/>
          <p:cNvSpPr txBox="1"/>
          <p:nvPr/>
        </p:nvSpPr>
        <p:spPr>
          <a:xfrm>
            <a:off x="2148840" y="30632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The "aha" moment -- show one thing</a:t>
            </a:r>
            <a:b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they can't do with current setup</a:t>
            </a:r>
            <a:endParaRPr/>
          </a:p>
        </p:txBody>
      </p:sp>
      <p:sp>
        <p:nvSpPr>
          <p:cNvPr id="818" name="Google Shape;818;p30"/>
          <p:cNvSpPr txBox="1"/>
          <p:nvPr/>
        </p:nvSpPr>
        <p:spPr>
          <a:xfrm>
            <a:off x="777240" y="356616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Min 12-15:</a:t>
            </a:r>
            <a:endParaRPr/>
          </a:p>
        </p:txBody>
      </p:sp>
      <p:sp>
        <p:nvSpPr>
          <p:cNvPr id="819" name="Google Shape;819;p30"/>
          <p:cNvSpPr txBox="1"/>
          <p:nvPr/>
        </p:nvSpPr>
        <p:spPr>
          <a:xfrm>
            <a:off x="2148840" y="35661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"Want me to set this up now?" Then</a:t>
            </a:r>
            <a:b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build profile, add services, generate link</a:t>
            </a:r>
            <a:endParaRPr/>
          </a:p>
        </p:txBody>
      </p:sp>
      <p:sp>
        <p:nvSpPr>
          <p:cNvPr id="820" name="Google Shape;820;p30"/>
          <p:cNvSpPr txBox="1"/>
          <p:nvPr/>
        </p:nvSpPr>
        <p:spPr>
          <a:xfrm>
            <a:off x="777240" y="4206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POST-ONBOARDING NURTURE (FOUNDER = DRIP)</a:t>
            </a:r>
            <a:endParaRPr/>
          </a:p>
        </p:txBody>
      </p:sp>
      <p:sp>
        <p:nvSpPr>
          <p:cNvPr id="821" name="Google Shape;821;p30"/>
          <p:cNvSpPr txBox="1"/>
          <p:nvPr/>
        </p:nvSpPr>
        <p:spPr>
          <a:xfrm>
            <a:off x="777240" y="448056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Day 1: "How did it go? Any clients book yet?"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Day 3: "Noticed you added 3 services -- looking good."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Day 7: "Any questions? How are clients reacting?"</a:t>
            </a:r>
            <a:endParaRPr/>
          </a:p>
        </p:txBody>
      </p:sp>
      <p:sp>
        <p:nvSpPr>
          <p:cNvPr id="822" name="Google Shape;822;p30"/>
          <p:cNvSpPr/>
          <p:nvPr/>
        </p:nvSpPr>
        <p:spPr>
          <a:xfrm>
            <a:off x="6309350" y="1554474"/>
            <a:ext cx="5120700" cy="36168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0"/>
          <p:cNvSpPr/>
          <p:nvPr/>
        </p:nvSpPr>
        <p:spPr>
          <a:xfrm>
            <a:off x="6309360" y="1554480"/>
            <a:ext cx="512064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0"/>
          <p:cNvSpPr txBox="1"/>
          <p:nvPr/>
        </p:nvSpPr>
        <p:spPr>
          <a:xfrm>
            <a:off x="6537960" y="169164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DISTRIBUTION CHANNELS</a:t>
            </a:r>
            <a:endParaRPr/>
          </a:p>
        </p:txBody>
      </p:sp>
      <p:sp>
        <p:nvSpPr>
          <p:cNvPr id="825" name="Google Shape;825;p30"/>
          <p:cNvSpPr txBox="1"/>
          <p:nvPr/>
        </p:nvSpPr>
        <p:spPr>
          <a:xfrm>
            <a:off x="6537960" y="205740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Phase 1+</a:t>
            </a:r>
            <a:endParaRPr/>
          </a:p>
        </p:txBody>
      </p:sp>
      <p:sp>
        <p:nvSpPr>
          <p:cNvPr id="826" name="Google Shape;826;p30"/>
          <p:cNvSpPr txBox="1"/>
          <p:nvPr/>
        </p:nvSpPr>
        <p:spPr>
          <a:xfrm>
            <a:off x="7680960" y="20574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Organic Viral Loop</a:t>
            </a:r>
            <a:endParaRPr/>
          </a:p>
        </p:txBody>
      </p:sp>
      <p:sp>
        <p:nvSpPr>
          <p:cNvPr id="827" name="Google Shape;827;p30"/>
          <p:cNvSpPr txBox="1"/>
          <p:nvPr/>
        </p:nvSpPr>
        <p:spPr>
          <a:xfrm>
            <a:off x="7680960" y="22860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Booking link = product impression.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Every shared URL exposes SavSpot.</a:t>
            </a:r>
            <a:endParaRPr/>
          </a:p>
        </p:txBody>
      </p:sp>
      <p:sp>
        <p:nvSpPr>
          <p:cNvPr id="828" name="Google Shape;828;p30"/>
          <p:cNvSpPr txBox="1"/>
          <p:nvPr/>
        </p:nvSpPr>
        <p:spPr>
          <a:xfrm>
            <a:off x="6537960" y="258775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Post-Launch</a:t>
            </a:r>
            <a:endParaRPr/>
          </a:p>
        </p:txBody>
      </p:sp>
      <p:sp>
        <p:nvSpPr>
          <p:cNvPr id="829" name="Google Shape;829;p30"/>
          <p:cNvSpPr txBox="1"/>
          <p:nvPr/>
        </p:nvSpPr>
        <p:spPr>
          <a:xfrm>
            <a:off x="7680960" y="258775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Competitor Comparison</a:t>
            </a:r>
            <a:endParaRPr/>
          </a:p>
        </p:txBody>
      </p:sp>
      <p:sp>
        <p:nvSpPr>
          <p:cNvPr id="830" name="Google Shape;830;p30"/>
          <p:cNvSpPr txBox="1"/>
          <p:nvPr/>
        </p:nvSpPr>
        <p:spPr>
          <a:xfrm>
            <a:off x="7680960" y="281635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"SavSpot vs Booksy" with interactive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cost calculator. High-intent SEO.</a:t>
            </a:r>
            <a:endParaRPr/>
          </a:p>
        </p:txBody>
      </p:sp>
      <p:sp>
        <p:nvSpPr>
          <p:cNvPr id="831" name="Google Shape;831;p30"/>
          <p:cNvSpPr txBox="1"/>
          <p:nvPr/>
        </p:nvSpPr>
        <p:spPr>
          <a:xfrm>
            <a:off x="6537960" y="3118104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Ongoing</a:t>
            </a:r>
            <a:endParaRPr/>
          </a:p>
        </p:txBody>
      </p:sp>
      <p:sp>
        <p:nvSpPr>
          <p:cNvPr id="832" name="Google Shape;832;p30"/>
          <p:cNvSpPr txBox="1"/>
          <p:nvPr/>
        </p:nvSpPr>
        <p:spPr>
          <a:xfrm>
            <a:off x="7680960" y="3118104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Build-in-Public</a:t>
            </a:r>
            <a:endParaRPr/>
          </a:p>
        </p:txBody>
      </p:sp>
      <p:sp>
        <p:nvSpPr>
          <p:cNvPr id="833" name="Google Shape;833;p30"/>
          <p:cNvSpPr txBox="1"/>
          <p:nvPr/>
        </p:nvSpPr>
        <p:spPr>
          <a:xfrm>
            <a:off x="7680960" y="334670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Two narratives: dev workflow (Twitter,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HN) + user testimonials (Instagram).</a:t>
            </a:r>
            <a:endParaRPr/>
          </a:p>
        </p:txBody>
      </p:sp>
      <p:sp>
        <p:nvSpPr>
          <p:cNvPr id="834" name="Google Shape;834;p30"/>
          <p:cNvSpPr txBox="1"/>
          <p:nvPr/>
        </p:nvSpPr>
        <p:spPr>
          <a:xfrm>
            <a:off x="6537960" y="3648456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Phase 3+</a:t>
            </a:r>
            <a:endParaRPr/>
          </a:p>
        </p:txBody>
      </p:sp>
      <p:sp>
        <p:nvSpPr>
          <p:cNvPr id="835" name="Google Shape;835;p30"/>
          <p:cNvSpPr txBox="1"/>
          <p:nvPr/>
        </p:nvSpPr>
        <p:spPr>
          <a:xfrm>
            <a:off x="7680960" y="364845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Agent Distribution</a:t>
            </a:r>
            <a:endParaRPr/>
          </a:p>
        </p:txBody>
      </p:sp>
      <p:sp>
        <p:nvSpPr>
          <p:cNvPr id="836" name="Google Shape;836;p30"/>
          <p:cNvSpPr txBox="1"/>
          <p:nvPr/>
        </p:nvSpPr>
        <p:spPr>
          <a:xfrm>
            <a:off x="7680960" y="3877056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MCP server + public API. Zero-marginal-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cost channel. First-mover advantage.</a:t>
            </a:r>
            <a:endParaRPr/>
          </a:p>
        </p:txBody>
      </p:sp>
      <p:sp>
        <p:nvSpPr>
          <p:cNvPr id="837" name="Google Shape;837;p30"/>
          <p:cNvSpPr txBox="1"/>
          <p:nvPr/>
        </p:nvSpPr>
        <p:spPr>
          <a:xfrm>
            <a:off x="6537960" y="417880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/>
          </a:p>
        </p:txBody>
      </p:sp>
      <p:sp>
        <p:nvSpPr>
          <p:cNvPr id="838" name="Google Shape;838;p30"/>
          <p:cNvSpPr txBox="1"/>
          <p:nvPr/>
        </p:nvSpPr>
        <p:spPr>
          <a:xfrm>
            <a:off x="7680960" y="417880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Platform Directory</a:t>
            </a:r>
            <a:endParaRPr/>
          </a:p>
        </p:txBody>
      </p:sp>
      <p:sp>
        <p:nvSpPr>
          <p:cNvPr id="839" name="Google Shape;839;p30"/>
          <p:cNvSpPr txBox="1"/>
          <p:nvPr/>
        </p:nvSpPr>
        <p:spPr>
          <a:xfrm>
            <a:off x="7680960" y="440740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Consumer marketplace. Gated on &gt;200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businesses. Commission-eligible.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3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Soft Launch Cohort</a:t>
            </a:r>
            <a:endParaRPr/>
          </a:p>
        </p:txBody>
      </p:sp>
      <p:sp>
        <p:nvSpPr>
          <p:cNvPr id="845" name="Google Shape;845;p31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1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5-10 businesses structured across greenfield and conversion personas</a:t>
            </a:r>
            <a:endParaRPr/>
          </a:p>
        </p:txBody>
      </p:sp>
      <p:graphicFrame>
        <p:nvGraphicFramePr>
          <p:cNvPr id="847" name="Google Shape;847;p31"/>
          <p:cNvGraphicFramePr/>
          <p:nvPr/>
        </p:nvGraphicFramePr>
        <p:xfrm>
          <a:off x="548640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{36BB4BFD-88E4-4783-9C64-90CA04ADB2B8}</a:tableStyleId>
              </a:tblPr>
              <a:tblGrid>
                <a:gridCol w="914400"/>
                <a:gridCol w="2926075"/>
                <a:gridCol w="3200400"/>
                <a:gridCol w="36576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Slot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Persona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Tests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Barber (design partner)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Marcus -- Booksy user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Parallel-run, import, calendar bridge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2-3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barbers (same shop)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Marcus variant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Multi-provider, land-and-expand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4-5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Different vertical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Maria / James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Cross-vertical, different platform import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6-7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Greenfield (no prior tool)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Priya -- first-time owner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Greenfield thesis, onboarding friction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8-10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Opportunistic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Mixed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Volume, diversity, unexpected use cases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  <p:sp>
        <p:nvSpPr>
          <p:cNvPr id="848" name="Google Shape;848;p31"/>
          <p:cNvSpPr txBox="1"/>
          <p:nvPr/>
        </p:nvSpPr>
        <p:spPr>
          <a:xfrm>
            <a:off x="548640" y="429768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SEGMENT SEQUENCING</a:t>
            </a:r>
            <a:endParaRPr/>
          </a:p>
        </p:txBody>
      </p:sp>
      <p:sp>
        <p:nvSpPr>
          <p:cNvPr id="849" name="Google Shape;849;p31"/>
          <p:cNvSpPr/>
          <p:nvPr/>
        </p:nvSpPr>
        <p:spPr>
          <a:xfrm>
            <a:off x="548640" y="4663440"/>
            <a:ext cx="3474720" cy="164592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1"/>
          <p:cNvSpPr/>
          <p:nvPr/>
        </p:nvSpPr>
        <p:spPr>
          <a:xfrm>
            <a:off x="548640" y="4663440"/>
            <a:ext cx="34747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1"/>
          <p:cNvSpPr txBox="1"/>
          <p:nvPr/>
        </p:nvSpPr>
        <p:spPr>
          <a:xfrm>
            <a:off x="731520" y="480060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Months 1-3</a:t>
            </a:r>
            <a:endParaRPr/>
          </a:p>
        </p:txBody>
      </p:sp>
      <p:sp>
        <p:nvSpPr>
          <p:cNvPr id="852" name="Google Shape;852;p31"/>
          <p:cNvSpPr txBox="1"/>
          <p:nvPr/>
        </p:nvSpPr>
        <p:spPr>
          <a:xfrm>
            <a:off x="731520" y="5029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Independent Providers</a:t>
            </a:r>
            <a:endParaRPr/>
          </a:p>
        </p:txBody>
      </p:sp>
      <p:sp>
        <p:nvSpPr>
          <p:cNvPr id="853" name="Google Shape;853;p31"/>
          <p:cNvSpPr txBox="1"/>
          <p:nvPr/>
        </p:nvSpPr>
        <p:spPr>
          <a:xfrm>
            <a:off x="731520" y="539496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Shortest sales cycle, strongest network overlap, lowest product complexity</a:t>
            </a:r>
            <a:endParaRPr/>
          </a:p>
        </p:txBody>
      </p:sp>
      <p:sp>
        <p:nvSpPr>
          <p:cNvPr id="854" name="Google Shape;854;p31"/>
          <p:cNvSpPr/>
          <p:nvPr/>
        </p:nvSpPr>
        <p:spPr>
          <a:xfrm>
            <a:off x="4251960" y="4663440"/>
            <a:ext cx="3474720" cy="164592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1"/>
          <p:cNvSpPr/>
          <p:nvPr/>
        </p:nvSpPr>
        <p:spPr>
          <a:xfrm>
            <a:off x="4251960" y="4663440"/>
            <a:ext cx="347472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1"/>
          <p:cNvSpPr txBox="1"/>
          <p:nvPr/>
        </p:nvSpPr>
        <p:spPr>
          <a:xfrm>
            <a:off x="4434840" y="480060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Months 3-6</a:t>
            </a:r>
            <a:endParaRPr/>
          </a:p>
        </p:txBody>
      </p:sp>
      <p:sp>
        <p:nvSpPr>
          <p:cNvPr id="857" name="Google Shape;857;p31"/>
          <p:cNvSpPr txBox="1"/>
          <p:nvPr/>
        </p:nvSpPr>
        <p:spPr>
          <a:xfrm>
            <a:off x="4434840" y="5029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Multi-Provider Shops</a:t>
            </a:r>
            <a:endParaRPr/>
          </a:p>
        </p:txBody>
      </p:sp>
      <p:sp>
        <p:nvSpPr>
          <p:cNvPr id="858" name="Google Shape;858;p31"/>
          <p:cNvSpPr txBox="1"/>
          <p:nvPr/>
        </p:nvSpPr>
        <p:spPr>
          <a:xfrm>
            <a:off x="4434840" y="539496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Requires social proof from Segment 1; land-and-expand from Marcus's shop</a:t>
            </a:r>
            <a:endParaRPr/>
          </a:p>
        </p:txBody>
      </p:sp>
      <p:sp>
        <p:nvSpPr>
          <p:cNvPr id="859" name="Google Shape;859;p31"/>
          <p:cNvSpPr/>
          <p:nvPr/>
        </p:nvSpPr>
        <p:spPr>
          <a:xfrm>
            <a:off x="7955280" y="4663440"/>
            <a:ext cx="3474720" cy="164592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1"/>
          <p:cNvSpPr/>
          <p:nvPr/>
        </p:nvSpPr>
        <p:spPr>
          <a:xfrm>
            <a:off x="7955280" y="4663440"/>
            <a:ext cx="347472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1"/>
          <p:cNvSpPr txBox="1"/>
          <p:nvPr/>
        </p:nvSpPr>
        <p:spPr>
          <a:xfrm>
            <a:off x="8138160" y="480060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Months 6+</a:t>
            </a:r>
            <a:endParaRPr/>
          </a:p>
        </p:txBody>
      </p:sp>
      <p:sp>
        <p:nvSpPr>
          <p:cNvPr id="862" name="Google Shape;862;p31"/>
          <p:cNvSpPr txBox="1"/>
          <p:nvPr/>
        </p:nvSpPr>
        <p:spPr>
          <a:xfrm>
            <a:off x="8138160" y="5029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Venue Businesses</a:t>
            </a:r>
            <a:endParaRPr/>
          </a:p>
        </p:txBody>
      </p:sp>
      <p:sp>
        <p:nvSpPr>
          <p:cNvPr id="863" name="Google Shape;863;p31"/>
          <p:cNvSpPr txBox="1"/>
          <p:nvPr/>
        </p:nvSpPr>
        <p:spPr>
          <a:xfrm>
            <a:off x="8138160" y="539496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Most complex use case; LifePlace proves tech supports this complexity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32"/>
          <p:cNvSpPr/>
          <p:nvPr/>
        </p:nvSpPr>
        <p:spPr>
          <a:xfrm>
            <a:off x="731520" y="228600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869" name="Google Shape;869;p32"/>
          <p:cNvSpPr txBox="1"/>
          <p:nvPr/>
        </p:nvSpPr>
        <p:spPr>
          <a:xfrm>
            <a:off x="2011680" y="21031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Roadmap &amp; Validation</a:t>
            </a:r>
            <a:endParaRPr/>
          </a:p>
        </p:txBody>
      </p:sp>
      <p:sp>
        <p:nvSpPr>
          <p:cNvPr id="870" name="Google Shape;870;p32"/>
          <p:cNvSpPr txBox="1"/>
          <p:nvPr/>
        </p:nvSpPr>
        <p:spPr>
          <a:xfrm>
            <a:off x="2011680" y="30175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Four phases from foundation to scale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3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Development Roadmap</a:t>
            </a:r>
            <a:endParaRPr/>
          </a:p>
        </p:txBody>
      </p:sp>
      <p:sp>
        <p:nvSpPr>
          <p:cNvPr id="876" name="Google Shape;876;p33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3"/>
          <p:cNvSpPr/>
          <p:nvPr/>
        </p:nvSpPr>
        <p:spPr>
          <a:xfrm>
            <a:off x="457200" y="1463040"/>
            <a:ext cx="2651760" cy="45720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3"/>
          <p:cNvSpPr/>
          <p:nvPr/>
        </p:nvSpPr>
        <p:spPr>
          <a:xfrm>
            <a:off x="457200" y="1463040"/>
            <a:ext cx="2651760" cy="635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3"/>
          <p:cNvSpPr txBox="1"/>
          <p:nvPr/>
        </p:nvSpPr>
        <p:spPr>
          <a:xfrm>
            <a:off x="594360" y="157276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/>
          </a:p>
        </p:txBody>
      </p:sp>
      <p:sp>
        <p:nvSpPr>
          <p:cNvPr id="880" name="Google Shape;880;p33"/>
          <p:cNvSpPr txBox="1"/>
          <p:nvPr/>
        </p:nvSpPr>
        <p:spPr>
          <a:xfrm>
            <a:off x="594360" y="17830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Foundation</a:t>
            </a:r>
            <a:endParaRPr/>
          </a:p>
        </p:txBody>
      </p:sp>
      <p:sp>
        <p:nvSpPr>
          <p:cNvPr id="881" name="Google Shape;881;p33"/>
          <p:cNvSpPr txBox="1"/>
          <p:nvPr/>
        </p:nvSpPr>
        <p:spPr>
          <a:xfrm>
            <a:off x="594360" y="210312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Months 1-2.5</a:t>
            </a:r>
            <a:endParaRPr/>
          </a:p>
        </p:txBody>
      </p:sp>
      <p:sp>
        <p:nvSpPr>
          <p:cNvPr id="882" name="Google Shape;882;p33"/>
          <p:cNvSpPr/>
          <p:nvPr/>
        </p:nvSpPr>
        <p:spPr>
          <a:xfrm>
            <a:off x="594360" y="2377440"/>
            <a:ext cx="2377440" cy="38100"/>
          </a:xfrm>
          <a:prstGeom prst="rect">
            <a:avLst/>
          </a:prstGeom>
          <a:solidFill>
            <a:srgbClr val="33405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3"/>
          <p:cNvSpPr txBox="1"/>
          <p:nvPr/>
        </p:nvSpPr>
        <p:spPr>
          <a:xfrm>
            <a:off x="594360" y="25146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Multi-tenant platform with RLS</a:t>
            </a:r>
            <a:endParaRPr/>
          </a:p>
        </p:txBody>
      </p:sp>
      <p:sp>
        <p:nvSpPr>
          <p:cNvPr id="884" name="Google Shape;884;p33"/>
          <p:cNvSpPr txBox="1"/>
          <p:nvPr/>
        </p:nvSpPr>
        <p:spPr>
          <a:xfrm>
            <a:off x="594360" y="28346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Business-type preset onboarding</a:t>
            </a:r>
            <a:endParaRPr/>
          </a:p>
        </p:txBody>
      </p:sp>
      <p:sp>
        <p:nvSpPr>
          <p:cNvPr id="885" name="Google Shape;885;p33"/>
          <p:cNvSpPr txBox="1"/>
          <p:nvPr/>
        </p:nvSpPr>
        <p:spPr>
          <a:xfrm>
            <a:off x="594360" y="31546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Dynamic booking flow engine</a:t>
            </a:r>
            <a:endParaRPr/>
          </a:p>
        </p:txBody>
      </p:sp>
      <p:sp>
        <p:nvSpPr>
          <p:cNvPr id="886" name="Google Shape;886;p33"/>
          <p:cNvSpPr txBox="1"/>
          <p:nvPr/>
        </p:nvSpPr>
        <p:spPr>
          <a:xfrm>
            <a:off x="594360" y="34747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Stripe Connect via PaymentProvider</a:t>
            </a:r>
            <a:endParaRPr/>
          </a:p>
        </p:txBody>
      </p:sp>
      <p:sp>
        <p:nvSpPr>
          <p:cNvPr id="887" name="Google Shape;887;p33"/>
          <p:cNvSpPr txBox="1"/>
          <p:nvPr/>
        </p:nvSpPr>
        <p:spPr>
          <a:xfrm>
            <a:off x="594360" y="3878610"/>
            <a:ext cx="2377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Offline payment (first-class)</a:t>
            </a:r>
            <a:endParaRPr/>
          </a:p>
        </p:txBody>
      </p:sp>
      <p:sp>
        <p:nvSpPr>
          <p:cNvPr id="888" name="Google Shape;888;p33"/>
          <p:cNvSpPr txBox="1"/>
          <p:nvPr/>
        </p:nvSpPr>
        <p:spPr>
          <a:xfrm>
            <a:off x="594360" y="4198650"/>
            <a:ext cx="2377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Admin CRM + Client Portal</a:t>
            </a:r>
            <a:endParaRPr/>
          </a:p>
        </p:txBody>
      </p:sp>
      <p:sp>
        <p:nvSpPr>
          <p:cNvPr id="889" name="Google Shape;889;p33"/>
          <p:cNvSpPr txBox="1"/>
          <p:nvPr/>
        </p:nvSpPr>
        <p:spPr>
          <a:xfrm>
            <a:off x="594360" y="4518690"/>
            <a:ext cx="2377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Two-way calendar sync</a:t>
            </a:r>
            <a:endParaRPr/>
          </a:p>
        </p:txBody>
      </p:sp>
      <p:sp>
        <p:nvSpPr>
          <p:cNvPr id="890" name="Google Shape;890;p33"/>
          <p:cNvSpPr txBox="1"/>
          <p:nvPr/>
        </p:nvSpPr>
        <p:spPr>
          <a:xfrm>
            <a:off x="594360" y="4838730"/>
            <a:ext cx="2377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Walk-in booking, Provider SMS</a:t>
            </a:r>
            <a:endParaRPr/>
          </a:p>
        </p:txBody>
      </p:sp>
      <p:sp>
        <p:nvSpPr>
          <p:cNvPr id="891" name="Google Shape;891;p33"/>
          <p:cNvSpPr txBox="1"/>
          <p:nvPr/>
        </p:nvSpPr>
        <p:spPr>
          <a:xfrm>
            <a:off x="594360" y="5158770"/>
            <a:ext cx="2377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Browser push, AI support triage</a:t>
            </a:r>
            <a:endParaRPr/>
          </a:p>
        </p:txBody>
      </p:sp>
      <p:sp>
        <p:nvSpPr>
          <p:cNvPr id="892" name="Google Shape;892;p33"/>
          <p:cNvSpPr/>
          <p:nvPr/>
        </p:nvSpPr>
        <p:spPr>
          <a:xfrm>
            <a:off x="3291840" y="1463040"/>
            <a:ext cx="2651760" cy="45720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3"/>
          <p:cNvSpPr/>
          <p:nvPr/>
        </p:nvSpPr>
        <p:spPr>
          <a:xfrm>
            <a:off x="3291840" y="1463040"/>
            <a:ext cx="265176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3"/>
          <p:cNvSpPr txBox="1"/>
          <p:nvPr/>
        </p:nvSpPr>
        <p:spPr>
          <a:xfrm>
            <a:off x="3429000" y="157276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/>
          </a:p>
        </p:txBody>
      </p:sp>
      <p:sp>
        <p:nvSpPr>
          <p:cNvPr id="895" name="Google Shape;895;p33"/>
          <p:cNvSpPr txBox="1"/>
          <p:nvPr/>
        </p:nvSpPr>
        <p:spPr>
          <a:xfrm>
            <a:off x="3429000" y="17830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Comms &amp; Growth</a:t>
            </a:r>
            <a:endParaRPr/>
          </a:p>
        </p:txBody>
      </p:sp>
      <p:sp>
        <p:nvSpPr>
          <p:cNvPr id="896" name="Google Shape;896;p33"/>
          <p:cNvSpPr txBox="1"/>
          <p:nvPr/>
        </p:nvSpPr>
        <p:spPr>
          <a:xfrm>
            <a:off x="3429000" y="210312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Months 2.5-4</a:t>
            </a:r>
            <a:endParaRPr/>
          </a:p>
        </p:txBody>
      </p:sp>
      <p:sp>
        <p:nvSpPr>
          <p:cNvPr id="897" name="Google Shape;897;p33"/>
          <p:cNvSpPr/>
          <p:nvPr/>
        </p:nvSpPr>
        <p:spPr>
          <a:xfrm>
            <a:off x="3429000" y="2377440"/>
            <a:ext cx="2377440" cy="38100"/>
          </a:xfrm>
          <a:prstGeom prst="rect">
            <a:avLst/>
          </a:prstGeom>
          <a:solidFill>
            <a:srgbClr val="33405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3"/>
          <p:cNvSpPr txBox="1"/>
          <p:nvPr/>
        </p:nvSpPr>
        <p:spPr>
          <a:xfrm>
            <a:off x="3429000" y="25146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Mobile app (React Native + Expo)</a:t>
            </a:r>
            <a:endParaRPr/>
          </a:p>
        </p:txBody>
      </p:sp>
      <p:sp>
        <p:nvSpPr>
          <p:cNvPr id="899" name="Google Shape;899;p33"/>
          <p:cNvSpPr txBox="1"/>
          <p:nvPr/>
        </p:nvSpPr>
        <p:spPr>
          <a:xfrm>
            <a:off x="3429000" y="28346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Subscription billing (Stripe)</a:t>
            </a:r>
            <a:endParaRPr/>
          </a:p>
        </p:txBody>
      </p:sp>
      <p:sp>
        <p:nvSpPr>
          <p:cNvPr id="900" name="Google Shape;900;p33"/>
          <p:cNvSpPr txBox="1"/>
          <p:nvPr/>
        </p:nvSpPr>
        <p:spPr>
          <a:xfrm>
            <a:off x="3429000" y="31546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Email/SMS template engine</a:t>
            </a:r>
            <a:endParaRPr/>
          </a:p>
        </p:txBody>
      </p:sp>
      <p:sp>
        <p:nvSpPr>
          <p:cNvPr id="901" name="Google Shape;901;p33"/>
          <p:cNvSpPr txBox="1"/>
          <p:nvPr/>
        </p:nvSpPr>
        <p:spPr>
          <a:xfrm>
            <a:off x="3429000" y="34747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Contracts + digital signatures</a:t>
            </a:r>
            <a:endParaRPr/>
          </a:p>
        </p:txBody>
      </p:sp>
      <p:sp>
        <p:nvSpPr>
          <p:cNvPr id="902" name="Google Shape;902;p33"/>
          <p:cNvSpPr txBox="1"/>
          <p:nvPr/>
        </p:nvSpPr>
        <p:spPr>
          <a:xfrm>
            <a:off x="3429000" y="37947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Check-in/check-out management</a:t>
            </a:r>
            <a:endParaRPr/>
          </a:p>
        </p:txBody>
      </p:sp>
      <p:sp>
        <p:nvSpPr>
          <p:cNvPr id="903" name="Google Shape;903;p33"/>
          <p:cNvSpPr txBox="1"/>
          <p:nvPr/>
        </p:nvSpPr>
        <p:spPr>
          <a:xfrm>
            <a:off x="3429000" y="41148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Reviews system</a:t>
            </a:r>
            <a:endParaRPr/>
          </a:p>
        </p:txBody>
      </p:sp>
      <p:sp>
        <p:nvSpPr>
          <p:cNvPr id="904" name="Google Shape;904;p33"/>
          <p:cNvSpPr txBox="1"/>
          <p:nvPr/>
        </p:nvSpPr>
        <p:spPr>
          <a:xfrm>
            <a:off x="3429000" y="44348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Booking flow builder</a:t>
            </a:r>
            <a:endParaRPr/>
          </a:p>
        </p:txBody>
      </p:sp>
      <p:sp>
        <p:nvSpPr>
          <p:cNvPr id="905" name="Google Shape;905;p33"/>
          <p:cNvSpPr txBox="1"/>
          <p:nvPr/>
        </p:nvSpPr>
        <p:spPr>
          <a:xfrm>
            <a:off x="3429000" y="47548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Embeddable widget (premium)</a:t>
            </a:r>
            <a:endParaRPr/>
          </a:p>
        </p:txBody>
      </p:sp>
      <p:sp>
        <p:nvSpPr>
          <p:cNvPr id="906" name="Google Shape;906;p33"/>
          <p:cNvSpPr txBox="1"/>
          <p:nvPr/>
        </p:nvSpPr>
        <p:spPr>
          <a:xfrm>
            <a:off x="3429000" y="50749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Notification preferences</a:t>
            </a:r>
            <a:endParaRPr/>
          </a:p>
        </p:txBody>
      </p:sp>
      <p:sp>
        <p:nvSpPr>
          <p:cNvPr id="907" name="Google Shape;907;p33"/>
          <p:cNvSpPr/>
          <p:nvPr/>
        </p:nvSpPr>
        <p:spPr>
          <a:xfrm>
            <a:off x="6126480" y="1463040"/>
            <a:ext cx="2651760" cy="45720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3"/>
          <p:cNvSpPr/>
          <p:nvPr/>
        </p:nvSpPr>
        <p:spPr>
          <a:xfrm>
            <a:off x="6126480" y="1463040"/>
            <a:ext cx="2651760" cy="635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3"/>
          <p:cNvSpPr txBox="1"/>
          <p:nvPr/>
        </p:nvSpPr>
        <p:spPr>
          <a:xfrm>
            <a:off x="6263640" y="157276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/>
          </a:p>
        </p:txBody>
      </p:sp>
      <p:sp>
        <p:nvSpPr>
          <p:cNvPr id="910" name="Google Shape;910;p33"/>
          <p:cNvSpPr txBox="1"/>
          <p:nvPr/>
        </p:nvSpPr>
        <p:spPr>
          <a:xfrm>
            <a:off x="6263640" y="17830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&amp; Automation</a:t>
            </a:r>
            <a:endParaRPr/>
          </a:p>
        </p:txBody>
      </p:sp>
      <p:sp>
        <p:nvSpPr>
          <p:cNvPr id="911" name="Google Shape;911;p33"/>
          <p:cNvSpPr txBox="1"/>
          <p:nvPr/>
        </p:nvSpPr>
        <p:spPr>
          <a:xfrm>
            <a:off x="6263640" y="210312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Months 4-6</a:t>
            </a:r>
            <a:endParaRPr/>
          </a:p>
        </p:txBody>
      </p:sp>
      <p:sp>
        <p:nvSpPr>
          <p:cNvPr id="912" name="Google Shape;912;p33"/>
          <p:cNvSpPr/>
          <p:nvPr/>
        </p:nvSpPr>
        <p:spPr>
          <a:xfrm>
            <a:off x="6263640" y="2377440"/>
            <a:ext cx="2377440" cy="38100"/>
          </a:xfrm>
          <a:prstGeom prst="rect">
            <a:avLst/>
          </a:prstGeom>
          <a:solidFill>
            <a:srgbClr val="33405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3"/>
          <p:cNvSpPr txBox="1"/>
          <p:nvPr/>
        </p:nvSpPr>
        <p:spPr>
          <a:xfrm>
            <a:off x="6263640" y="25146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MCP server + public REST API</a:t>
            </a:r>
            <a:endParaRPr/>
          </a:p>
        </p:txBody>
      </p:sp>
      <p:sp>
        <p:nvSpPr>
          <p:cNvPr id="914" name="Google Shape;914;p33"/>
          <p:cNvSpPr txBox="1"/>
          <p:nvPr/>
        </p:nvSpPr>
        <p:spPr>
          <a:xfrm>
            <a:off x="6263640" y="28346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Workflow automation builder</a:t>
            </a:r>
            <a:endParaRPr/>
          </a:p>
        </p:txBody>
      </p:sp>
      <p:sp>
        <p:nvSpPr>
          <p:cNvPr id="915" name="Google Shape;915;p33"/>
          <p:cNvSpPr txBox="1"/>
          <p:nvPr/>
        </p:nvSpPr>
        <p:spPr>
          <a:xfrm>
            <a:off x="6263640" y="31546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Adyen + PayPal via abstraction</a:t>
            </a:r>
            <a:endParaRPr/>
          </a:p>
        </p:txBody>
      </p:sp>
      <p:sp>
        <p:nvSpPr>
          <p:cNvPr id="916" name="Google Shape;916;p33"/>
          <p:cNvSpPr txBox="1"/>
          <p:nvPr/>
        </p:nvSpPr>
        <p:spPr>
          <a:xfrm>
            <a:off x="6263640" y="34747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Advanced analytics (premium)</a:t>
            </a:r>
            <a:endParaRPr/>
          </a:p>
        </p:txBody>
      </p:sp>
      <p:sp>
        <p:nvSpPr>
          <p:cNvPr id="917" name="Google Shape;917;p33"/>
          <p:cNvSpPr txBox="1"/>
          <p:nvPr/>
        </p:nvSpPr>
        <p:spPr>
          <a:xfrm>
            <a:off x="6263640" y="37947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QuickBooks / Xero integration</a:t>
            </a:r>
            <a:endParaRPr/>
          </a:p>
        </p:txBody>
      </p:sp>
      <p:sp>
        <p:nvSpPr>
          <p:cNvPr id="918" name="Google Shape;918;p33"/>
          <p:cNvSpPr txBox="1"/>
          <p:nvPr/>
        </p:nvSpPr>
        <p:spPr>
          <a:xfrm>
            <a:off x="6263640" y="41148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i18n + multi-currency</a:t>
            </a:r>
            <a:endParaRPr/>
          </a:p>
        </p:txBody>
      </p:sp>
      <p:sp>
        <p:nvSpPr>
          <p:cNvPr id="919" name="Google Shape;919;p33"/>
          <p:cNvSpPr txBox="1"/>
          <p:nvPr/>
        </p:nvSpPr>
        <p:spPr>
          <a:xfrm>
            <a:off x="6263640" y="44348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Referral link management</a:t>
            </a:r>
            <a:endParaRPr/>
          </a:p>
        </p:txBody>
      </p:sp>
      <p:sp>
        <p:nvSpPr>
          <p:cNvPr id="920" name="Google Shape;920;p33"/>
          <p:cNvSpPr/>
          <p:nvPr/>
        </p:nvSpPr>
        <p:spPr>
          <a:xfrm>
            <a:off x="8961120" y="1463040"/>
            <a:ext cx="2651760" cy="45720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3"/>
          <p:cNvSpPr/>
          <p:nvPr/>
        </p:nvSpPr>
        <p:spPr>
          <a:xfrm>
            <a:off x="8961120" y="1463040"/>
            <a:ext cx="2651760" cy="635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3"/>
          <p:cNvSpPr txBox="1"/>
          <p:nvPr/>
        </p:nvSpPr>
        <p:spPr>
          <a:xfrm>
            <a:off x="9098280" y="157276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/>
          </a:p>
        </p:txBody>
      </p:sp>
      <p:sp>
        <p:nvSpPr>
          <p:cNvPr id="923" name="Google Shape;923;p33"/>
          <p:cNvSpPr txBox="1"/>
          <p:nvPr/>
        </p:nvSpPr>
        <p:spPr>
          <a:xfrm>
            <a:off x="9098280" y="17830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/>
          </a:p>
        </p:txBody>
      </p:sp>
      <p:sp>
        <p:nvSpPr>
          <p:cNvPr id="924" name="Google Shape;924;p33"/>
          <p:cNvSpPr txBox="1"/>
          <p:nvPr/>
        </p:nvSpPr>
        <p:spPr>
          <a:xfrm>
            <a:off x="9098280" y="210312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Demand-Driven</a:t>
            </a:r>
            <a:endParaRPr/>
          </a:p>
        </p:txBody>
      </p:sp>
      <p:sp>
        <p:nvSpPr>
          <p:cNvPr id="925" name="Google Shape;925;p33"/>
          <p:cNvSpPr/>
          <p:nvPr/>
        </p:nvSpPr>
        <p:spPr>
          <a:xfrm>
            <a:off x="9098280" y="2377440"/>
            <a:ext cx="2377440" cy="38100"/>
          </a:xfrm>
          <a:prstGeom prst="rect">
            <a:avLst/>
          </a:prstGeom>
          <a:solidFill>
            <a:srgbClr val="33405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33"/>
          <p:cNvSpPr txBox="1"/>
          <p:nvPr/>
        </p:nvSpPr>
        <p:spPr>
          <a:xfrm>
            <a:off x="9098280" y="25146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AI recommendations</a:t>
            </a:r>
            <a:endParaRPr/>
          </a:p>
        </p:txBody>
      </p:sp>
      <p:sp>
        <p:nvSpPr>
          <p:cNvPr id="927" name="Google Shape;927;p33"/>
          <p:cNvSpPr txBox="1"/>
          <p:nvPr/>
        </p:nvSpPr>
        <p:spPr>
          <a:xfrm>
            <a:off x="9098280" y="28346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Platform directory (&gt;200 biz)</a:t>
            </a:r>
            <a:endParaRPr/>
          </a:p>
        </p:txBody>
      </p:sp>
      <p:sp>
        <p:nvSpPr>
          <p:cNvPr id="928" name="Google Shape;928;p33"/>
          <p:cNvSpPr txBox="1"/>
          <p:nvPr/>
        </p:nvSpPr>
        <p:spPr>
          <a:xfrm>
            <a:off x="9098280" y="31546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Custom domains (&gt;20 requests)</a:t>
            </a:r>
            <a:endParaRPr/>
          </a:p>
        </p:txBody>
      </p:sp>
      <p:sp>
        <p:nvSpPr>
          <p:cNvPr id="929" name="Google Shape;929;p33"/>
          <p:cNvSpPr txBox="1"/>
          <p:nvPr/>
        </p:nvSpPr>
        <p:spPr>
          <a:xfrm>
            <a:off x="9098280" y="34747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Multi-location (&gt;10 biz)</a:t>
            </a:r>
            <a:endParaRPr/>
          </a:p>
        </p:txBody>
      </p:sp>
      <p:sp>
        <p:nvSpPr>
          <p:cNvPr id="930" name="Google Shape;930;p33"/>
          <p:cNvSpPr txBox="1"/>
          <p:nvPr/>
        </p:nvSpPr>
        <p:spPr>
          <a:xfrm>
            <a:off x="9098280" y="37947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Regional payment providers</a:t>
            </a:r>
            <a:endParaRPr/>
          </a:p>
        </p:txBody>
      </p:sp>
      <p:sp>
        <p:nvSpPr>
          <p:cNvPr id="931" name="Google Shape;931;p33"/>
          <p:cNvSpPr txBox="1"/>
          <p:nvPr/>
        </p:nvSpPr>
        <p:spPr>
          <a:xfrm>
            <a:off x="9098280" y="41148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Partner program (&gt;500 biz)</a:t>
            </a:r>
            <a:endParaRPr/>
          </a:p>
        </p:txBody>
      </p:sp>
      <p:sp>
        <p:nvSpPr>
          <p:cNvPr id="932" name="Google Shape;932;p33"/>
          <p:cNvSpPr txBox="1"/>
          <p:nvPr/>
        </p:nvSpPr>
        <p:spPr>
          <a:xfrm>
            <a:off x="9098280" y="44348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Geographic expansion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34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Year 1 Success Metrics</a:t>
            </a:r>
            <a:endParaRPr/>
          </a:p>
        </p:txBody>
      </p:sp>
      <p:sp>
        <p:nvSpPr>
          <p:cNvPr id="938" name="Google Shape;938;p34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4"/>
          <p:cNvSpPr/>
          <p:nvPr/>
        </p:nvSpPr>
        <p:spPr>
          <a:xfrm>
            <a:off x="457200" y="1463040"/>
            <a:ext cx="1691640" cy="18288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4"/>
          <p:cNvSpPr/>
          <p:nvPr/>
        </p:nvSpPr>
        <p:spPr>
          <a:xfrm>
            <a:off x="457200" y="1463040"/>
            <a:ext cx="169164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4"/>
          <p:cNvSpPr txBox="1"/>
          <p:nvPr/>
        </p:nvSpPr>
        <p:spPr>
          <a:xfrm>
            <a:off x="457200" y="1737360"/>
            <a:ext cx="1691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1,000</a:t>
            </a:r>
            <a:endParaRPr/>
          </a:p>
        </p:txBody>
      </p:sp>
      <p:sp>
        <p:nvSpPr>
          <p:cNvPr id="942" name="Google Shape;942;p34"/>
          <p:cNvSpPr txBox="1"/>
          <p:nvPr/>
        </p:nvSpPr>
        <p:spPr>
          <a:xfrm>
            <a:off x="457200" y="237744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Registered</a:t>
            </a:r>
            <a:b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Businesses</a:t>
            </a:r>
            <a:endParaRPr/>
          </a:p>
        </p:txBody>
      </p:sp>
      <p:sp>
        <p:nvSpPr>
          <p:cNvPr id="943" name="Google Shape;943;p34"/>
          <p:cNvSpPr/>
          <p:nvPr/>
        </p:nvSpPr>
        <p:spPr>
          <a:xfrm>
            <a:off x="2331720" y="1463040"/>
            <a:ext cx="1691640" cy="18288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4"/>
          <p:cNvSpPr/>
          <p:nvPr/>
        </p:nvSpPr>
        <p:spPr>
          <a:xfrm>
            <a:off x="2331720" y="1463040"/>
            <a:ext cx="169164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4"/>
          <p:cNvSpPr txBox="1"/>
          <p:nvPr/>
        </p:nvSpPr>
        <p:spPr>
          <a:xfrm>
            <a:off x="2331720" y="1737360"/>
            <a:ext cx="1691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10,000</a:t>
            </a:r>
            <a:endParaRPr/>
          </a:p>
        </p:txBody>
      </p:sp>
      <p:sp>
        <p:nvSpPr>
          <p:cNvPr id="946" name="Google Shape;946;p34"/>
          <p:cNvSpPr txBox="1"/>
          <p:nvPr/>
        </p:nvSpPr>
        <p:spPr>
          <a:xfrm>
            <a:off x="2331720" y="237744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Monthly Active</a:t>
            </a:r>
            <a:b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Bookings</a:t>
            </a:r>
            <a:endParaRPr/>
          </a:p>
        </p:txBody>
      </p:sp>
      <p:sp>
        <p:nvSpPr>
          <p:cNvPr id="947" name="Google Shape;947;p34"/>
          <p:cNvSpPr/>
          <p:nvPr/>
        </p:nvSpPr>
        <p:spPr>
          <a:xfrm>
            <a:off x="4206240" y="1463040"/>
            <a:ext cx="1691640" cy="18288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4"/>
          <p:cNvSpPr/>
          <p:nvPr/>
        </p:nvSpPr>
        <p:spPr>
          <a:xfrm>
            <a:off x="4206240" y="1463040"/>
            <a:ext cx="169164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34"/>
          <p:cNvSpPr txBox="1"/>
          <p:nvPr/>
        </p:nvSpPr>
        <p:spPr>
          <a:xfrm>
            <a:off x="4206240" y="1737360"/>
            <a:ext cx="1691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$2M</a:t>
            </a:r>
            <a:endParaRPr/>
          </a:p>
        </p:txBody>
      </p:sp>
      <p:sp>
        <p:nvSpPr>
          <p:cNvPr id="950" name="Google Shape;950;p34"/>
          <p:cNvSpPr txBox="1"/>
          <p:nvPr/>
        </p:nvSpPr>
        <p:spPr>
          <a:xfrm>
            <a:off x="4206240" y="237744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Gross Merchandise</a:t>
            </a:r>
            <a:b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Value (GMV)</a:t>
            </a:r>
            <a:endParaRPr/>
          </a:p>
        </p:txBody>
      </p:sp>
      <p:sp>
        <p:nvSpPr>
          <p:cNvPr id="951" name="Google Shape;951;p34"/>
          <p:cNvSpPr/>
          <p:nvPr/>
        </p:nvSpPr>
        <p:spPr>
          <a:xfrm>
            <a:off x="6080760" y="1463040"/>
            <a:ext cx="1691640" cy="18288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4"/>
          <p:cNvSpPr/>
          <p:nvPr/>
        </p:nvSpPr>
        <p:spPr>
          <a:xfrm>
            <a:off x="6080760" y="1463040"/>
            <a:ext cx="169164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34"/>
          <p:cNvSpPr txBox="1"/>
          <p:nvPr/>
        </p:nvSpPr>
        <p:spPr>
          <a:xfrm>
            <a:off x="6080760" y="1737360"/>
            <a:ext cx="1691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$40K</a:t>
            </a:r>
            <a:endParaRPr/>
          </a:p>
        </p:txBody>
      </p:sp>
      <p:sp>
        <p:nvSpPr>
          <p:cNvPr id="954" name="Google Shape;954;p34"/>
          <p:cNvSpPr txBox="1"/>
          <p:nvPr/>
        </p:nvSpPr>
        <p:spPr>
          <a:xfrm>
            <a:off x="6080760" y="237744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Platform Revenue</a:t>
            </a:r>
            <a:b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(base case)</a:t>
            </a:r>
            <a:endParaRPr/>
          </a:p>
        </p:txBody>
      </p:sp>
      <p:sp>
        <p:nvSpPr>
          <p:cNvPr id="955" name="Google Shape;955;p34"/>
          <p:cNvSpPr/>
          <p:nvPr/>
        </p:nvSpPr>
        <p:spPr>
          <a:xfrm>
            <a:off x="7955280" y="1463040"/>
            <a:ext cx="1691640" cy="18288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4"/>
          <p:cNvSpPr/>
          <p:nvPr/>
        </p:nvSpPr>
        <p:spPr>
          <a:xfrm>
            <a:off x="7955280" y="1463040"/>
            <a:ext cx="169164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34"/>
          <p:cNvSpPr txBox="1"/>
          <p:nvPr/>
        </p:nvSpPr>
        <p:spPr>
          <a:xfrm>
            <a:off x="7955280" y="1737360"/>
            <a:ext cx="1691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&gt;70%</a:t>
            </a:r>
            <a:endParaRPr/>
          </a:p>
        </p:txBody>
      </p:sp>
      <p:sp>
        <p:nvSpPr>
          <p:cNvPr id="958" name="Google Shape;958;p34"/>
          <p:cNvSpPr txBox="1"/>
          <p:nvPr/>
        </p:nvSpPr>
        <p:spPr>
          <a:xfrm>
            <a:off x="7955280" y="237744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90-Day</a:t>
            </a:r>
            <a:b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Retention</a:t>
            </a:r>
            <a:endParaRPr/>
          </a:p>
        </p:txBody>
      </p:sp>
      <p:sp>
        <p:nvSpPr>
          <p:cNvPr id="959" name="Google Shape;959;p34"/>
          <p:cNvSpPr/>
          <p:nvPr/>
        </p:nvSpPr>
        <p:spPr>
          <a:xfrm>
            <a:off x="9829800" y="1463040"/>
            <a:ext cx="1691640" cy="18288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34"/>
          <p:cNvSpPr/>
          <p:nvPr/>
        </p:nvSpPr>
        <p:spPr>
          <a:xfrm>
            <a:off x="9829800" y="1463040"/>
            <a:ext cx="169164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34"/>
          <p:cNvSpPr txBox="1"/>
          <p:nvPr/>
        </p:nvSpPr>
        <p:spPr>
          <a:xfrm>
            <a:off x="9829800" y="1737360"/>
            <a:ext cx="1691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&gt;40</a:t>
            </a:r>
            <a:endParaRPr/>
          </a:p>
        </p:txBody>
      </p:sp>
      <p:sp>
        <p:nvSpPr>
          <p:cNvPr id="962" name="Google Shape;962;p34"/>
          <p:cNvSpPr txBox="1"/>
          <p:nvPr/>
        </p:nvSpPr>
        <p:spPr>
          <a:xfrm>
            <a:off x="9829800" y="237744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Net Promoter</a:t>
            </a:r>
            <a:b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Score (NPS)</a:t>
            </a:r>
            <a:endParaRPr/>
          </a:p>
        </p:txBody>
      </p:sp>
      <p:sp>
        <p:nvSpPr>
          <p:cNvPr id="963" name="Google Shape;963;p34"/>
          <p:cNvSpPr txBox="1"/>
          <p:nvPr/>
        </p:nvSpPr>
        <p:spPr>
          <a:xfrm>
            <a:off x="548640" y="3428990"/>
            <a:ext cx="1069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BUSINESS OBJECTIVES</a:t>
            </a:r>
            <a:endParaRPr/>
          </a:p>
        </p:txBody>
      </p:sp>
      <p:graphicFrame>
        <p:nvGraphicFramePr>
          <p:cNvPr id="964" name="Google Shape;964;p34"/>
          <p:cNvGraphicFramePr/>
          <p:nvPr/>
        </p:nvGraphicFramePr>
        <p:xfrm>
          <a:off x="548640" y="37490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{36BB4BFD-88E4-4783-9C64-90CA04ADB2B8}</a:tableStyleId>
              </a:tblPr>
              <a:tblGrid>
                <a:gridCol w="731525"/>
                <a:gridCol w="3200400"/>
                <a:gridCol w="4114800"/>
                <a:gridCol w="26517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Objective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Timeline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BO-1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Production-ready + soft launch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 booking from non-founder business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 3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BO-2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Vertical adoption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200+ businesses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 6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BO-3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Sustainable revenue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$8K+ MRR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 10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BO-4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AI-agent capability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1+ integration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 6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BO-5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International readiness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2+ countries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 8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  <p:sp>
        <p:nvSpPr>
          <p:cNvPr id="965" name="Google Shape;965;p34"/>
          <p:cNvSpPr/>
          <p:nvPr/>
        </p:nvSpPr>
        <p:spPr>
          <a:xfrm>
            <a:off x="548640" y="6017645"/>
            <a:ext cx="10698600" cy="731400"/>
          </a:xfrm>
          <a:prstGeom prst="roundRect">
            <a:avLst>
              <a:gd fmla="val 3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34"/>
          <p:cNvSpPr/>
          <p:nvPr/>
        </p:nvSpPr>
        <p:spPr>
          <a:xfrm>
            <a:off x="548640" y="6017645"/>
            <a:ext cx="73200" cy="7314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34"/>
          <p:cNvSpPr txBox="1"/>
          <p:nvPr/>
        </p:nvSpPr>
        <p:spPr>
          <a:xfrm>
            <a:off x="822960" y="6063365"/>
            <a:ext cx="320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NORTH STAR METRIC</a:t>
            </a:r>
            <a:endParaRPr/>
          </a:p>
        </p:txBody>
      </p:sp>
      <p:sp>
        <p:nvSpPr>
          <p:cNvPr id="968" name="Google Shape;968;p34"/>
          <p:cNvSpPr txBox="1"/>
          <p:nvPr/>
        </p:nvSpPr>
        <p:spPr>
          <a:xfrm>
            <a:off x="3840480" y="6063365"/>
            <a:ext cx="365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Monthly Bookings Completed</a:t>
            </a:r>
            <a:endParaRPr/>
          </a:p>
        </p:txBody>
      </p:sp>
      <p:sp>
        <p:nvSpPr>
          <p:cNvPr id="969" name="Google Shape;969;p34"/>
          <p:cNvSpPr txBox="1"/>
          <p:nvPr/>
        </p:nvSpPr>
        <p:spPr>
          <a:xfrm>
            <a:off x="822960" y="6383405"/>
            <a:ext cx="10058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LEADING INDICATOR:  Unprompted booking page sharing -- businesses putting savspot.co/{slug} in Instagram bio, email, or website without being asked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35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 Art &amp; Validation</a:t>
            </a:r>
            <a:endParaRPr/>
          </a:p>
        </p:txBody>
      </p:sp>
      <p:sp>
        <p:nvSpPr>
          <p:cNvPr id="975" name="Google Shape;975;p35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35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LifePlace -- production-deployed booking system by the same developer</a:t>
            </a:r>
            <a:endParaRPr/>
          </a:p>
        </p:txBody>
      </p:sp>
      <p:sp>
        <p:nvSpPr>
          <p:cNvPr id="977" name="Google Shape;977;p35"/>
          <p:cNvSpPr/>
          <p:nvPr/>
        </p:nvSpPr>
        <p:spPr>
          <a:xfrm>
            <a:off x="548640" y="1554480"/>
            <a:ext cx="5029200" cy="256032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35"/>
          <p:cNvSpPr/>
          <p:nvPr/>
        </p:nvSpPr>
        <p:spPr>
          <a:xfrm>
            <a:off x="548640" y="1554480"/>
            <a:ext cx="502920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35"/>
          <p:cNvSpPr txBox="1"/>
          <p:nvPr/>
        </p:nvSpPr>
        <p:spPr>
          <a:xfrm>
            <a:off x="777240" y="16916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LIFEPLACE (lifeplace.dev)</a:t>
            </a:r>
            <a:endParaRPr/>
          </a:p>
        </p:txBody>
      </p:sp>
      <p:sp>
        <p:nvSpPr>
          <p:cNvPr id="980" name="Google Shape;980;p35"/>
          <p:cNvSpPr txBox="1"/>
          <p:nvPr/>
        </p:nvSpPr>
        <p:spPr>
          <a:xfrm>
            <a:off x="777240" y="20574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709</a:t>
            </a:r>
            <a:endParaRPr/>
          </a:p>
        </p:txBody>
      </p:sp>
      <p:sp>
        <p:nvSpPr>
          <p:cNvPr id="981" name="Google Shape;981;p35"/>
          <p:cNvSpPr txBox="1"/>
          <p:nvPr/>
        </p:nvSpPr>
        <p:spPr>
          <a:xfrm>
            <a:off x="2103120" y="20574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commits</a:t>
            </a:r>
            <a:endParaRPr/>
          </a:p>
        </p:txBody>
      </p:sp>
      <p:sp>
        <p:nvSpPr>
          <p:cNvPr id="982" name="Google Shape;982;p35"/>
          <p:cNvSpPr txBox="1"/>
          <p:nvPr/>
        </p:nvSpPr>
        <p:spPr>
          <a:xfrm>
            <a:off x="777240" y="240487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122</a:t>
            </a:r>
            <a:endParaRPr/>
          </a:p>
        </p:txBody>
      </p:sp>
      <p:sp>
        <p:nvSpPr>
          <p:cNvPr id="983" name="Google Shape;983;p35"/>
          <p:cNvSpPr txBox="1"/>
          <p:nvPr/>
        </p:nvSpPr>
        <p:spPr>
          <a:xfrm>
            <a:off x="2103120" y="240487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database models</a:t>
            </a:r>
            <a:endParaRPr/>
          </a:p>
        </p:txBody>
      </p:sp>
      <p:sp>
        <p:nvSpPr>
          <p:cNvPr id="984" name="Google Shape;984;p35"/>
          <p:cNvSpPr txBox="1"/>
          <p:nvPr/>
        </p:nvSpPr>
        <p:spPr>
          <a:xfrm>
            <a:off x="777240" y="275234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985" name="Google Shape;985;p35"/>
          <p:cNvSpPr txBox="1"/>
          <p:nvPr/>
        </p:nvSpPr>
        <p:spPr>
          <a:xfrm>
            <a:off x="2103120" y="275234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domain modules</a:t>
            </a:r>
            <a:endParaRPr/>
          </a:p>
        </p:txBody>
      </p:sp>
      <p:sp>
        <p:nvSpPr>
          <p:cNvPr id="986" name="Google Shape;986;p35"/>
          <p:cNvSpPr txBox="1"/>
          <p:nvPr/>
        </p:nvSpPr>
        <p:spPr>
          <a:xfrm>
            <a:off x="777240" y="309981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~576K</a:t>
            </a:r>
            <a:endParaRPr/>
          </a:p>
        </p:txBody>
      </p:sp>
      <p:sp>
        <p:nvSpPr>
          <p:cNvPr id="987" name="Google Shape;987;p35"/>
          <p:cNvSpPr txBox="1"/>
          <p:nvPr/>
        </p:nvSpPr>
        <p:spPr>
          <a:xfrm>
            <a:off x="2103120" y="309981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lines of code</a:t>
            </a:r>
            <a:endParaRPr/>
          </a:p>
        </p:txBody>
      </p:sp>
      <p:sp>
        <p:nvSpPr>
          <p:cNvPr id="988" name="Google Shape;988;p35"/>
          <p:cNvSpPr txBox="1"/>
          <p:nvPr/>
        </p:nvSpPr>
        <p:spPr>
          <a:xfrm>
            <a:off x="777240" y="3538728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Django/Python backend | Fly.io + Cloudflare Pages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~80% domain overlap with SavSpot (full rewrite, not fork)</a:t>
            </a:r>
            <a:endParaRPr/>
          </a:p>
        </p:txBody>
      </p:sp>
      <p:sp>
        <p:nvSpPr>
          <p:cNvPr id="989" name="Google Shape;989;p35"/>
          <p:cNvSpPr/>
          <p:nvPr/>
        </p:nvSpPr>
        <p:spPr>
          <a:xfrm>
            <a:off x="5852160" y="1554480"/>
            <a:ext cx="5577840" cy="256032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5"/>
          <p:cNvSpPr/>
          <p:nvPr/>
        </p:nvSpPr>
        <p:spPr>
          <a:xfrm>
            <a:off x="5852160" y="1554480"/>
            <a:ext cx="557784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5"/>
          <p:cNvSpPr txBox="1"/>
          <p:nvPr/>
        </p:nvSpPr>
        <p:spPr>
          <a:xfrm>
            <a:off x="6080760" y="169164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VALIDATION SCORECARD (v1.3)</a:t>
            </a:r>
            <a:endParaRPr/>
          </a:p>
        </p:txBody>
      </p:sp>
      <p:sp>
        <p:nvSpPr>
          <p:cNvPr id="992" name="Google Shape;992;p35"/>
          <p:cNvSpPr txBox="1"/>
          <p:nvPr/>
        </p:nvSpPr>
        <p:spPr>
          <a:xfrm>
            <a:off x="6080760" y="20574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Specification Quality</a:t>
            </a:r>
            <a:endParaRPr/>
          </a:p>
        </p:txBody>
      </p:sp>
      <p:sp>
        <p:nvSpPr>
          <p:cNvPr id="993" name="Google Shape;993;p35"/>
          <p:cNvSpPr txBox="1"/>
          <p:nvPr/>
        </p:nvSpPr>
        <p:spPr>
          <a:xfrm>
            <a:off x="8366760" y="205740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5/5 stars</a:t>
            </a:r>
            <a:endParaRPr/>
          </a:p>
        </p:txBody>
      </p:sp>
      <p:sp>
        <p:nvSpPr>
          <p:cNvPr id="994" name="Google Shape;994;p35"/>
          <p:cNvSpPr txBox="1"/>
          <p:nvPr/>
        </p:nvSpPr>
        <p:spPr>
          <a:xfrm>
            <a:off x="9509760" y="205740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 docs, fully consistent</a:t>
            </a:r>
            <a:endParaRPr/>
          </a:p>
        </p:txBody>
      </p:sp>
      <p:sp>
        <p:nvSpPr>
          <p:cNvPr id="995" name="Google Shape;995;p35"/>
          <p:cNvSpPr txBox="1"/>
          <p:nvPr/>
        </p:nvSpPr>
        <p:spPr>
          <a:xfrm>
            <a:off x="6080760" y="23774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Technical Feasibility</a:t>
            </a:r>
            <a:endParaRPr/>
          </a:p>
        </p:txBody>
      </p:sp>
      <p:sp>
        <p:nvSpPr>
          <p:cNvPr id="996" name="Google Shape;996;p35"/>
          <p:cNvSpPr txBox="1"/>
          <p:nvPr/>
        </p:nvSpPr>
        <p:spPr>
          <a:xfrm>
            <a:off x="8366760" y="237744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4.5/5 stars</a:t>
            </a:r>
            <a:endParaRPr/>
          </a:p>
        </p:txBody>
      </p:sp>
      <p:sp>
        <p:nvSpPr>
          <p:cNvPr id="997" name="Google Shape;997;p35"/>
          <p:cNvSpPr txBox="1"/>
          <p:nvPr/>
        </p:nvSpPr>
        <p:spPr>
          <a:xfrm>
            <a:off x="9509760" y="237744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LifePlace proves capability</a:t>
            </a:r>
            <a:endParaRPr/>
          </a:p>
        </p:txBody>
      </p:sp>
      <p:sp>
        <p:nvSpPr>
          <p:cNvPr id="998" name="Google Shape;998;p35"/>
          <p:cNvSpPr txBox="1"/>
          <p:nvPr/>
        </p:nvSpPr>
        <p:spPr>
          <a:xfrm>
            <a:off x="6080760" y="269748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 Analysis</a:t>
            </a:r>
            <a:endParaRPr/>
          </a:p>
        </p:txBody>
      </p:sp>
      <p:sp>
        <p:nvSpPr>
          <p:cNvPr id="999" name="Google Shape;999;p35"/>
          <p:cNvSpPr txBox="1"/>
          <p:nvPr/>
        </p:nvSpPr>
        <p:spPr>
          <a:xfrm>
            <a:off x="8366760" y="269748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4/5 stars</a:t>
            </a:r>
            <a:endParaRPr/>
          </a:p>
        </p:txBody>
      </p:sp>
      <p:sp>
        <p:nvSpPr>
          <p:cNvPr id="1000" name="Google Shape;1000;p35"/>
          <p:cNvSpPr txBox="1"/>
          <p:nvPr/>
        </p:nvSpPr>
        <p:spPr>
          <a:xfrm>
            <a:off x="9509760" y="269748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Solid research, some assumptions</a:t>
            </a:r>
            <a:endParaRPr/>
          </a:p>
        </p:txBody>
      </p:sp>
      <p:sp>
        <p:nvSpPr>
          <p:cNvPr id="1001" name="Google Shape;1001;p35"/>
          <p:cNvSpPr txBox="1"/>
          <p:nvPr/>
        </p:nvSpPr>
        <p:spPr>
          <a:xfrm>
            <a:off x="6080760" y="30175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 Model</a:t>
            </a:r>
            <a:endParaRPr/>
          </a:p>
        </p:txBody>
      </p:sp>
      <p:sp>
        <p:nvSpPr>
          <p:cNvPr id="1002" name="Google Shape;1002;p35"/>
          <p:cNvSpPr txBox="1"/>
          <p:nvPr/>
        </p:nvSpPr>
        <p:spPr>
          <a:xfrm>
            <a:off x="8366760" y="301752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4/5 stars</a:t>
            </a:r>
            <a:endParaRPr/>
          </a:p>
        </p:txBody>
      </p:sp>
      <p:sp>
        <p:nvSpPr>
          <p:cNvPr id="1003" name="Google Shape;1003;p35"/>
          <p:cNvSpPr txBox="1"/>
          <p:nvPr/>
        </p:nvSpPr>
        <p:spPr>
          <a:xfrm>
            <a:off x="9509760" y="301752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Aligned incentives, realistic math</a:t>
            </a:r>
            <a:endParaRPr/>
          </a:p>
        </p:txBody>
      </p:sp>
      <p:sp>
        <p:nvSpPr>
          <p:cNvPr id="1004" name="Google Shape;1004;p35"/>
          <p:cNvSpPr txBox="1"/>
          <p:nvPr/>
        </p:nvSpPr>
        <p:spPr>
          <a:xfrm>
            <a:off x="6080760" y="33375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Distribution Strategy</a:t>
            </a:r>
            <a:endParaRPr/>
          </a:p>
        </p:txBody>
      </p:sp>
      <p:sp>
        <p:nvSpPr>
          <p:cNvPr id="1005" name="Google Shape;1005;p35"/>
          <p:cNvSpPr txBox="1"/>
          <p:nvPr/>
        </p:nvSpPr>
        <p:spPr>
          <a:xfrm>
            <a:off x="8366760" y="333756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4/5 stars</a:t>
            </a:r>
            <a:endParaRPr/>
          </a:p>
        </p:txBody>
      </p:sp>
      <p:sp>
        <p:nvSpPr>
          <p:cNvPr id="1006" name="Google Shape;1006;p35"/>
          <p:cNvSpPr txBox="1"/>
          <p:nvPr/>
        </p:nvSpPr>
        <p:spPr>
          <a:xfrm>
            <a:off x="9509760" y="333756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Formalized GTM, thin margin on contacts</a:t>
            </a:r>
            <a:endParaRPr/>
          </a:p>
        </p:txBody>
      </p:sp>
      <p:sp>
        <p:nvSpPr>
          <p:cNvPr id="1007" name="Google Shape;1007;p35"/>
          <p:cNvSpPr txBox="1"/>
          <p:nvPr/>
        </p:nvSpPr>
        <p:spPr>
          <a:xfrm>
            <a:off x="6080760" y="36576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AI-Agent Thesis</a:t>
            </a:r>
            <a:endParaRPr/>
          </a:p>
        </p:txBody>
      </p:sp>
      <p:sp>
        <p:nvSpPr>
          <p:cNvPr id="1008" name="Google Shape;1008;p35"/>
          <p:cNvSpPr txBox="1"/>
          <p:nvPr/>
        </p:nvSpPr>
        <p:spPr>
          <a:xfrm>
            <a:off x="8366760" y="365760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3.5/5 stars</a:t>
            </a:r>
            <a:endParaRPr/>
          </a:p>
        </p:txBody>
      </p:sp>
      <p:sp>
        <p:nvSpPr>
          <p:cNvPr id="1009" name="Google Shape;1009;p35"/>
          <p:cNvSpPr txBox="1"/>
          <p:nvPr/>
        </p:nvSpPr>
        <p:spPr>
          <a:xfrm>
            <a:off x="9509760" y="365760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 trend, timing uncertain</a:t>
            </a:r>
            <a:endParaRPr/>
          </a:p>
        </p:txBody>
      </p:sp>
      <p:sp>
        <p:nvSpPr>
          <p:cNvPr id="1010" name="Google Shape;1010;p35"/>
          <p:cNvSpPr txBox="1"/>
          <p:nvPr/>
        </p:nvSpPr>
        <p:spPr>
          <a:xfrm>
            <a:off x="548640" y="43891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KEY VALIDATION EVIDENCE</a:t>
            </a:r>
            <a:endParaRPr/>
          </a:p>
        </p:txBody>
      </p:sp>
      <p:sp>
        <p:nvSpPr>
          <p:cNvPr id="1011" name="Google Shape;1011;p35"/>
          <p:cNvSpPr txBox="1"/>
          <p:nvPr/>
        </p:nvSpPr>
        <p:spPr>
          <a:xfrm>
            <a:off x="548640" y="47091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LifePlace proves solo developer + AI can ship complex booking platforms (576K LOC in 6 months)</a:t>
            </a:r>
            <a:endParaRPr/>
          </a:p>
        </p:txBody>
      </p:sp>
      <p:sp>
        <p:nvSpPr>
          <p:cNvPr id="1012" name="Google Shape;1012;p35"/>
          <p:cNvSpPr txBox="1"/>
          <p:nvPr/>
        </p:nvSpPr>
        <p:spPr>
          <a:xfrm>
            <a:off x="548640" y="502920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Confirmed design partner (Marcus) with structured 90-day parallel-run engagement</a:t>
            </a:r>
            <a:endParaRPr/>
          </a:p>
        </p:txBody>
      </p:sp>
      <p:sp>
        <p:nvSpPr>
          <p:cNvPr id="1013" name="Google Shape;1013;p35"/>
          <p:cNvSpPr txBox="1"/>
          <p:nvPr/>
        </p:nvSpPr>
        <p:spPr>
          <a:xfrm>
            <a:off x="548640" y="534924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Revenue model achieves positive unit economics at ~$3K/month (modest scale, bootstrap-aligned)</a:t>
            </a:r>
            <a:endParaRPr/>
          </a:p>
        </p:txBody>
      </p:sp>
      <p:sp>
        <p:nvSpPr>
          <p:cNvPr id="1014" name="Google Shape;1014;p35"/>
          <p:cNvSpPr txBox="1"/>
          <p:nvPr/>
        </p:nvSpPr>
        <p:spPr>
          <a:xfrm>
            <a:off x="548640" y="566928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MCP ecosystem reached 97M+ monthly downloads; no booking SaaS competitor has shipped MCP server yet</a:t>
            </a:r>
            <a:endParaRPr/>
          </a:p>
        </p:txBody>
      </p:sp>
      <p:sp>
        <p:nvSpPr>
          <p:cNvPr id="1015" name="Google Shape;1015;p35"/>
          <p:cNvSpPr txBox="1"/>
          <p:nvPr/>
        </p:nvSpPr>
        <p:spPr>
          <a:xfrm>
            <a:off x="548640" y="59893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5-10 reachable contacts in personal network align with soft launch cohort requirements</a:t>
            </a:r>
            <a:endParaRPr/>
          </a:p>
        </p:txBody>
      </p:sp>
      <p:sp>
        <p:nvSpPr>
          <p:cNvPr id="1016" name="Google Shape;1016;p35"/>
          <p:cNvSpPr txBox="1"/>
          <p:nvPr/>
        </p:nvSpPr>
        <p:spPr>
          <a:xfrm>
            <a:off x="548640" y="63093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LifePlace serves dual purpose: technical validation + distribution asset (social proof in outreach)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36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Risks &amp; Mitigations</a:t>
            </a:r>
            <a:endParaRPr/>
          </a:p>
        </p:txBody>
      </p:sp>
      <p:sp>
        <p:nvSpPr>
          <p:cNvPr id="1022" name="Google Shape;1022;p36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23" name="Google Shape;1023;p36"/>
          <p:cNvGraphicFramePr/>
          <p:nvPr/>
        </p:nvGraphicFramePr>
        <p:xfrm>
          <a:off x="548640" y="1463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{36BB4BFD-88E4-4783-9C64-90CA04ADB2B8}</a:tableStyleId>
              </a:tblPr>
              <a:tblGrid>
                <a:gridCol w="2743200"/>
                <a:gridCol w="1645925"/>
                <a:gridCol w="63093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Likelihood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Mitigation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Crowded market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AI-first + universal engine; greenfield &gt; conversion thesis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Slow adoption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Signal-first soft launch; organic viral loop; free + zero-friction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Solo bottleneck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Medium-Low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3-tier AI pipeline (Claude + Qwen3 + OpenClaw); LifePlace validates throughput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 burden at scale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triage pipeline: &gt;60% auto-resolution target; validated in LifePlace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Stripe Connect dependency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PaymentProvider abstraction; Adyen/PayPal Phase 3; offline fallback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Greenfield thesis timing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Core product works for established businesses; greenfield is additive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New business mortality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subscription to lose on churn; commission-only model absorbs it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Competing AI-native entrants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First-mover window; MCP-ready from Phase 1; speed to market is critical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Distribution gap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Addressed by GTM strategy; concierge launch; build-in-public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37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Onboarding Flow</a:t>
            </a:r>
            <a:endParaRPr/>
          </a:p>
        </p:txBody>
      </p:sp>
      <p:sp>
        <p:nvSpPr>
          <p:cNvPr id="1029" name="Google Shape;1029;p37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37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Sign-up to working booking page in under 5 minutes</a:t>
            </a:r>
            <a:endParaRPr/>
          </a:p>
        </p:txBody>
      </p:sp>
      <p:sp>
        <p:nvSpPr>
          <p:cNvPr id="1031" name="Google Shape;1031;p37"/>
          <p:cNvSpPr/>
          <p:nvPr/>
        </p:nvSpPr>
        <p:spPr>
          <a:xfrm>
            <a:off x="548650" y="1358275"/>
            <a:ext cx="5486400" cy="33315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37"/>
          <p:cNvSpPr/>
          <p:nvPr/>
        </p:nvSpPr>
        <p:spPr>
          <a:xfrm>
            <a:off x="548640" y="1303055"/>
            <a:ext cx="5486400" cy="507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37"/>
          <p:cNvSpPr txBox="1"/>
          <p:nvPr/>
        </p:nvSpPr>
        <p:spPr>
          <a:xfrm>
            <a:off x="777240" y="1440215"/>
            <a:ext cx="5029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PHASE A -- REQUIRED (&lt;5 MINUTES)</a:t>
            </a:r>
            <a:endParaRPr/>
          </a:p>
        </p:txBody>
      </p:sp>
      <p:sp>
        <p:nvSpPr>
          <p:cNvPr id="1034" name="Google Shape;1034;p37"/>
          <p:cNvSpPr/>
          <p:nvPr/>
        </p:nvSpPr>
        <p:spPr>
          <a:xfrm>
            <a:off x="777240" y="1805975"/>
            <a:ext cx="320100" cy="32010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35" name="Google Shape;1035;p37"/>
          <p:cNvSpPr txBox="1"/>
          <p:nvPr/>
        </p:nvSpPr>
        <p:spPr>
          <a:xfrm>
            <a:off x="1234440" y="20574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Sign Up</a:t>
            </a:r>
            <a:endParaRPr/>
          </a:p>
        </p:txBody>
      </p:sp>
      <p:sp>
        <p:nvSpPr>
          <p:cNvPr id="1036" name="Google Shape;1036;p37"/>
          <p:cNvSpPr txBox="1"/>
          <p:nvPr/>
        </p:nvSpPr>
        <p:spPr>
          <a:xfrm>
            <a:off x="3017520" y="1805975"/>
            <a:ext cx="274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Email/password or Google OAuth</a:t>
            </a:r>
            <a:endParaRPr/>
          </a:p>
        </p:txBody>
      </p:sp>
      <p:sp>
        <p:nvSpPr>
          <p:cNvPr id="1037" name="Google Shape;1037;p37"/>
          <p:cNvSpPr/>
          <p:nvPr/>
        </p:nvSpPr>
        <p:spPr>
          <a:xfrm>
            <a:off x="777240" y="2400335"/>
            <a:ext cx="320100" cy="32010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38" name="Google Shape;1038;p37"/>
          <p:cNvSpPr txBox="1"/>
          <p:nvPr/>
        </p:nvSpPr>
        <p:spPr>
          <a:xfrm>
            <a:off x="1234440" y="2400335"/>
            <a:ext cx="182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Type</a:t>
            </a:r>
            <a:endParaRPr/>
          </a:p>
        </p:txBody>
      </p:sp>
      <p:sp>
        <p:nvSpPr>
          <p:cNvPr id="1039" name="Google Shape;1039;p37"/>
          <p:cNvSpPr txBox="1"/>
          <p:nvPr/>
        </p:nvSpPr>
        <p:spPr>
          <a:xfrm>
            <a:off x="3017520" y="2400335"/>
            <a:ext cx="2743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VENUE | SALON | STUDIO | FITNESS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PROFESSIONAL | OTHER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(triggers preset defaults)</a:t>
            </a:r>
            <a:endParaRPr/>
          </a:p>
        </p:txBody>
      </p:sp>
      <p:sp>
        <p:nvSpPr>
          <p:cNvPr id="1040" name="Google Shape;1040;p37"/>
          <p:cNvSpPr/>
          <p:nvPr/>
        </p:nvSpPr>
        <p:spPr>
          <a:xfrm>
            <a:off x="777240" y="2994695"/>
            <a:ext cx="320100" cy="32010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41" name="Google Shape;1041;p37"/>
          <p:cNvSpPr txBox="1"/>
          <p:nvPr/>
        </p:nvSpPr>
        <p:spPr>
          <a:xfrm>
            <a:off x="1234440" y="2994695"/>
            <a:ext cx="182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Profile</a:t>
            </a:r>
            <a:endParaRPr/>
          </a:p>
        </p:txBody>
      </p:sp>
      <p:sp>
        <p:nvSpPr>
          <p:cNvPr id="1042" name="Google Shape;1042;p37"/>
          <p:cNvSpPr txBox="1"/>
          <p:nvPr/>
        </p:nvSpPr>
        <p:spPr>
          <a:xfrm>
            <a:off x="3017520" y="2994695"/>
            <a:ext cx="274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Name, description, logo</a:t>
            </a:r>
            <a:endParaRPr/>
          </a:p>
        </p:txBody>
      </p:sp>
      <p:sp>
        <p:nvSpPr>
          <p:cNvPr id="1043" name="Google Shape;1043;p37"/>
          <p:cNvSpPr/>
          <p:nvPr/>
        </p:nvSpPr>
        <p:spPr>
          <a:xfrm>
            <a:off x="777240" y="3589055"/>
            <a:ext cx="320100" cy="32010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44" name="Google Shape;1044;p37"/>
          <p:cNvSpPr txBox="1"/>
          <p:nvPr/>
        </p:nvSpPr>
        <p:spPr>
          <a:xfrm>
            <a:off x="1234440" y="3589055"/>
            <a:ext cx="182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First Service</a:t>
            </a:r>
            <a:endParaRPr/>
          </a:p>
        </p:txBody>
      </p:sp>
      <p:sp>
        <p:nvSpPr>
          <p:cNvPr id="1045" name="Google Shape;1045;p37"/>
          <p:cNvSpPr txBox="1"/>
          <p:nvPr/>
        </p:nvSpPr>
        <p:spPr>
          <a:xfrm>
            <a:off x="3017520" y="3589055"/>
            <a:ext cx="274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Name, duration, price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(zero-config defaults from preset)</a:t>
            </a:r>
            <a:endParaRPr/>
          </a:p>
        </p:txBody>
      </p:sp>
      <p:sp>
        <p:nvSpPr>
          <p:cNvPr id="1046" name="Google Shape;1046;p37"/>
          <p:cNvSpPr txBox="1"/>
          <p:nvPr/>
        </p:nvSpPr>
        <p:spPr>
          <a:xfrm>
            <a:off x="777240" y="4274855"/>
            <a:ext cx="502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Booking page is now LIVE with preset defaults</a:t>
            </a:r>
            <a:endParaRPr/>
          </a:p>
        </p:txBody>
      </p:sp>
      <p:sp>
        <p:nvSpPr>
          <p:cNvPr id="1047" name="Google Shape;1047;p37"/>
          <p:cNvSpPr/>
          <p:nvPr/>
        </p:nvSpPr>
        <p:spPr>
          <a:xfrm>
            <a:off x="6309350" y="1303050"/>
            <a:ext cx="5120700" cy="33966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37"/>
          <p:cNvSpPr/>
          <p:nvPr/>
        </p:nvSpPr>
        <p:spPr>
          <a:xfrm>
            <a:off x="6309360" y="1303055"/>
            <a:ext cx="5120700" cy="507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37"/>
          <p:cNvSpPr txBox="1"/>
          <p:nvPr/>
        </p:nvSpPr>
        <p:spPr>
          <a:xfrm>
            <a:off x="6537960" y="1440215"/>
            <a:ext cx="4663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PHASE B -- OPTIONAL (POST-SETUP)</a:t>
            </a:r>
            <a:endParaRPr/>
          </a:p>
        </p:txBody>
      </p:sp>
      <p:sp>
        <p:nvSpPr>
          <p:cNvPr id="1050" name="Google Shape;1050;p37"/>
          <p:cNvSpPr txBox="1"/>
          <p:nvPr/>
        </p:nvSpPr>
        <p:spPr>
          <a:xfrm>
            <a:off x="6537960" y="1805975"/>
            <a:ext cx="46635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Customize availability hours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  (preset applied sensible defaults)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Connect payment provider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  (Stripe Express; booking page works without)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Advanced configuration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  (guest tracking, contracts, custom flow)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Import client data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  (CLI Phase 1, self-service Phase 2)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Connect Google Calendar</a:t>
            </a:r>
            <a:b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  (one-way or two-way sync)</a:t>
            </a:r>
            <a:endParaRPr/>
          </a:p>
        </p:txBody>
      </p:sp>
      <p:sp>
        <p:nvSpPr>
          <p:cNvPr id="1051" name="Google Shape;1051;p37"/>
          <p:cNvSpPr txBox="1"/>
          <p:nvPr/>
        </p:nvSpPr>
        <p:spPr>
          <a:xfrm>
            <a:off x="548640" y="4694300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BUSINESS-TYPE PRESET DEFAULTS</a:t>
            </a:r>
            <a:endParaRPr/>
          </a:p>
        </p:txBody>
      </p:sp>
      <p:graphicFrame>
        <p:nvGraphicFramePr>
          <p:cNvPr id="1052" name="Google Shape;1052;p37"/>
          <p:cNvGraphicFramePr/>
          <p:nvPr/>
        </p:nvGraphicFramePr>
        <p:xfrm>
          <a:off x="548640" y="49686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{36BB4BFD-88E4-4783-9C64-90CA04ADB2B8}</a:tableStyleId>
              </a:tblPr>
              <a:tblGrid>
                <a:gridCol w="2011675"/>
                <a:gridCol w="2103125"/>
                <a:gridCol w="1645925"/>
                <a:gridCol w="1371600"/>
                <a:gridCol w="35661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Hours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Pricing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Confirm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Reminders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3B82F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PROFESSIONAL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Mon-Fri 9-5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FIXED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24h reminder + 24h follow-up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SALON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Mon-Sat 9-6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FIXED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24h reminder + 24h follow-up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VENUE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days 8a-10p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FIXED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Manual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48h reminder + follow-up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A253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FITNESS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Mon-Sun 6a-9p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FIXED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24h reminder + 24h follow-up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38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Non-Functional Requirements</a:t>
            </a:r>
            <a:endParaRPr/>
          </a:p>
        </p:txBody>
      </p:sp>
      <p:sp>
        <p:nvSpPr>
          <p:cNvPr id="1058" name="Google Shape;1058;p38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38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Performance, scalability, reliability, and accessibility targets</a:t>
            </a:r>
            <a:endParaRPr/>
          </a:p>
        </p:txBody>
      </p:sp>
      <p:sp>
        <p:nvSpPr>
          <p:cNvPr id="1060" name="Google Shape;1060;p38"/>
          <p:cNvSpPr/>
          <p:nvPr/>
        </p:nvSpPr>
        <p:spPr>
          <a:xfrm>
            <a:off x="457200" y="1554480"/>
            <a:ext cx="2651760" cy="27432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38"/>
          <p:cNvSpPr/>
          <p:nvPr/>
        </p:nvSpPr>
        <p:spPr>
          <a:xfrm>
            <a:off x="457200" y="1554480"/>
            <a:ext cx="265176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38"/>
          <p:cNvSpPr txBox="1"/>
          <p:nvPr/>
        </p:nvSpPr>
        <p:spPr>
          <a:xfrm>
            <a:off x="640080" y="16916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/>
          </a:p>
        </p:txBody>
      </p:sp>
      <p:sp>
        <p:nvSpPr>
          <p:cNvPr id="1063" name="Google Shape;1063;p38"/>
          <p:cNvSpPr txBox="1"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FCP &lt; 2 seconds (booking pages)</a:t>
            </a:r>
            <a:endParaRPr/>
          </a:p>
        </p:txBody>
      </p:sp>
      <p:sp>
        <p:nvSpPr>
          <p:cNvPr id="1064" name="Google Shape;1064;p38"/>
          <p:cNvSpPr txBox="1"/>
          <p:nvPr/>
        </p:nvSpPr>
        <p:spPr>
          <a:xfrm>
            <a:off x="640105" y="2458620"/>
            <a:ext cx="22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API p95: &lt; 200ms reads, &lt; 500ms writes</a:t>
            </a:r>
            <a:endParaRPr/>
          </a:p>
        </p:txBody>
      </p:sp>
      <p:sp>
        <p:nvSpPr>
          <p:cNvPr id="1065" name="Google Shape;1065;p38"/>
          <p:cNvSpPr txBox="1"/>
          <p:nvPr/>
        </p:nvSpPr>
        <p:spPr>
          <a:xfrm>
            <a:off x="640105" y="2859827"/>
            <a:ext cx="22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Booking step transition &lt; 300ms</a:t>
            </a:r>
            <a:endParaRPr/>
          </a:p>
        </p:txBody>
      </p:sp>
      <p:sp>
        <p:nvSpPr>
          <p:cNvPr id="1066" name="Google Shape;1066;p38"/>
          <p:cNvSpPr txBox="1"/>
          <p:nvPr/>
        </p:nvSpPr>
        <p:spPr>
          <a:xfrm>
            <a:off x="640105" y="3295896"/>
            <a:ext cx="228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Search autocomplete &lt; 500ms</a:t>
            </a:r>
            <a:endParaRPr/>
          </a:p>
        </p:txBody>
      </p:sp>
      <p:sp>
        <p:nvSpPr>
          <p:cNvPr id="1067" name="Google Shape;1067;p38"/>
          <p:cNvSpPr txBox="1"/>
          <p:nvPr/>
        </p:nvSpPr>
        <p:spPr>
          <a:xfrm>
            <a:off x="640080" y="3593603"/>
            <a:ext cx="228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10,000+ concurrent sessions</a:t>
            </a:r>
            <a:endParaRPr/>
          </a:p>
        </p:txBody>
      </p:sp>
      <p:sp>
        <p:nvSpPr>
          <p:cNvPr id="1068" name="Google Shape;1068;p38"/>
          <p:cNvSpPr/>
          <p:nvPr/>
        </p:nvSpPr>
        <p:spPr>
          <a:xfrm>
            <a:off x="3291840" y="1554480"/>
            <a:ext cx="2651760" cy="27432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38"/>
          <p:cNvSpPr/>
          <p:nvPr/>
        </p:nvSpPr>
        <p:spPr>
          <a:xfrm>
            <a:off x="3291840" y="1554480"/>
            <a:ext cx="265176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38"/>
          <p:cNvSpPr txBox="1"/>
          <p:nvPr/>
        </p:nvSpPr>
        <p:spPr>
          <a:xfrm>
            <a:off x="3474720" y="16916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/>
          </a:p>
        </p:txBody>
      </p:sp>
      <p:sp>
        <p:nvSpPr>
          <p:cNvPr id="1071" name="Google Shape;1071;p38"/>
          <p:cNvSpPr txBox="1"/>
          <p:nvPr/>
        </p:nvSpPr>
        <p:spPr>
          <a:xfrm>
            <a:off x="3474720" y="20574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10,000+ businesses on shared infra</a:t>
            </a:r>
            <a:endParaRPr/>
          </a:p>
        </p:txBody>
      </p:sp>
      <p:sp>
        <p:nvSpPr>
          <p:cNvPr id="1072" name="Google Shape;1072;p38"/>
          <p:cNvSpPr txBox="1"/>
          <p:nvPr/>
        </p:nvSpPr>
        <p:spPr>
          <a:xfrm>
            <a:off x="3474720" y="2532882"/>
            <a:ext cx="228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Horizontal read replicas (Fly.io)</a:t>
            </a:r>
            <a:endParaRPr/>
          </a:p>
        </p:txBody>
      </p:sp>
      <p:sp>
        <p:nvSpPr>
          <p:cNvPr id="1073" name="Google Shape;1073;p38"/>
          <p:cNvSpPr txBox="1"/>
          <p:nvPr/>
        </p:nvSpPr>
        <p:spPr>
          <a:xfrm>
            <a:off x="3474720" y="2788914"/>
            <a:ext cx="228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1,000+ jobs/minute (BullMQ)</a:t>
            </a:r>
            <a:endParaRPr/>
          </a:p>
        </p:txBody>
      </p:sp>
      <p:sp>
        <p:nvSpPr>
          <p:cNvPr id="1074" name="Google Shape;1074;p38"/>
          <p:cNvSpPr txBox="1"/>
          <p:nvPr/>
        </p:nvSpPr>
        <p:spPr>
          <a:xfrm>
            <a:off x="3474720" y="3044946"/>
            <a:ext cx="22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Sub-second search across 100K+ listings</a:t>
            </a:r>
            <a:endParaRPr/>
          </a:p>
        </p:txBody>
      </p:sp>
      <p:sp>
        <p:nvSpPr>
          <p:cNvPr id="1075" name="Google Shape;1075;p38"/>
          <p:cNvSpPr/>
          <p:nvPr/>
        </p:nvSpPr>
        <p:spPr>
          <a:xfrm>
            <a:off x="6126480" y="1554480"/>
            <a:ext cx="2651760" cy="27432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38"/>
          <p:cNvSpPr/>
          <p:nvPr/>
        </p:nvSpPr>
        <p:spPr>
          <a:xfrm>
            <a:off x="6126480" y="1554480"/>
            <a:ext cx="265176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38"/>
          <p:cNvSpPr txBox="1"/>
          <p:nvPr/>
        </p:nvSpPr>
        <p:spPr>
          <a:xfrm>
            <a:off x="6309360" y="16916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/>
          </a:p>
        </p:txBody>
      </p:sp>
      <p:sp>
        <p:nvSpPr>
          <p:cNvPr id="1078" name="Google Shape;1078;p38"/>
          <p:cNvSpPr txBox="1"/>
          <p:nvPr/>
        </p:nvSpPr>
        <p:spPr>
          <a:xfrm>
            <a:off x="6309360" y="20574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99.5% monthly uptime (Phase 1)</a:t>
            </a:r>
            <a:endParaRPr/>
          </a:p>
        </p:txBody>
      </p:sp>
      <p:sp>
        <p:nvSpPr>
          <p:cNvPr id="1079" name="Google Shape;1079;p38"/>
          <p:cNvSpPr txBox="1"/>
          <p:nvPr/>
        </p:nvSpPr>
        <p:spPr>
          <a:xfrm>
            <a:off x="6309360" y="2475770"/>
            <a:ext cx="228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RTO &lt; 1 hour | RPO &lt; 1 hour</a:t>
            </a:r>
            <a:endParaRPr/>
          </a:p>
        </p:txBody>
      </p:sp>
      <p:sp>
        <p:nvSpPr>
          <p:cNvPr id="1080" name="Google Shape;1080;p38"/>
          <p:cNvSpPr txBox="1"/>
          <p:nvPr/>
        </p:nvSpPr>
        <p:spPr>
          <a:xfrm>
            <a:off x="6309360" y="2731802"/>
            <a:ext cx="228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MTTD &lt; 5 minutes</a:t>
            </a:r>
            <a:endParaRPr/>
          </a:p>
        </p:txBody>
      </p:sp>
      <p:sp>
        <p:nvSpPr>
          <p:cNvPr id="1081" name="Google Shape;1081;p38"/>
          <p:cNvSpPr txBox="1"/>
          <p:nvPr/>
        </p:nvSpPr>
        <p:spPr>
          <a:xfrm>
            <a:off x="6309360" y="2987834"/>
            <a:ext cx="22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Daily DB backups (28-day retention)</a:t>
            </a:r>
            <a:endParaRPr/>
          </a:p>
        </p:txBody>
      </p:sp>
      <p:sp>
        <p:nvSpPr>
          <p:cNvPr id="1082" name="Google Shape;1082;p38"/>
          <p:cNvSpPr txBox="1"/>
          <p:nvPr/>
        </p:nvSpPr>
        <p:spPr>
          <a:xfrm>
            <a:off x="6309373" y="3355841"/>
            <a:ext cx="22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PITR via WAL replay (&lt; 5 min granularity)</a:t>
            </a:r>
            <a:endParaRPr/>
          </a:p>
        </p:txBody>
      </p:sp>
      <p:sp>
        <p:nvSpPr>
          <p:cNvPr id="1083" name="Google Shape;1083;p38"/>
          <p:cNvSpPr/>
          <p:nvPr/>
        </p:nvSpPr>
        <p:spPr>
          <a:xfrm>
            <a:off x="8961120" y="1554480"/>
            <a:ext cx="2651760" cy="27432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38"/>
          <p:cNvSpPr/>
          <p:nvPr/>
        </p:nvSpPr>
        <p:spPr>
          <a:xfrm>
            <a:off x="8961120" y="1554480"/>
            <a:ext cx="26517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38"/>
          <p:cNvSpPr txBox="1"/>
          <p:nvPr/>
        </p:nvSpPr>
        <p:spPr>
          <a:xfrm>
            <a:off x="9144000" y="16916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Accessibility</a:t>
            </a:r>
            <a:endParaRPr/>
          </a:p>
        </p:txBody>
      </p:sp>
      <p:sp>
        <p:nvSpPr>
          <p:cNvPr id="1086" name="Google Shape;1086;p38"/>
          <p:cNvSpPr txBox="1"/>
          <p:nvPr/>
        </p:nvSpPr>
        <p:spPr>
          <a:xfrm>
            <a:off x="9144000" y="20574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WCAG 2.1 Level AA (all public pages)</a:t>
            </a:r>
            <a:endParaRPr/>
          </a:p>
        </p:txBody>
      </p:sp>
      <p:sp>
        <p:nvSpPr>
          <p:cNvPr id="1087" name="Google Shape;1087;p38"/>
          <p:cNvSpPr txBox="1"/>
          <p:nvPr/>
        </p:nvSpPr>
        <p:spPr>
          <a:xfrm>
            <a:off x="9144000" y="2425482"/>
            <a:ext cx="228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Full keyboard navigation</a:t>
            </a:r>
            <a:endParaRPr/>
          </a:p>
        </p:txBody>
      </p:sp>
      <p:sp>
        <p:nvSpPr>
          <p:cNvPr id="1088" name="Google Shape;1088;p38"/>
          <p:cNvSpPr txBox="1"/>
          <p:nvPr/>
        </p:nvSpPr>
        <p:spPr>
          <a:xfrm>
            <a:off x="9144000" y="2681514"/>
            <a:ext cx="22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Screen reader compatibility (ARIA)</a:t>
            </a:r>
            <a:endParaRPr/>
          </a:p>
        </p:txBody>
      </p:sp>
      <p:sp>
        <p:nvSpPr>
          <p:cNvPr id="1089" name="Google Shape;1089;p38"/>
          <p:cNvSpPr txBox="1"/>
          <p:nvPr/>
        </p:nvSpPr>
        <p:spPr>
          <a:xfrm>
            <a:off x="9144000" y="3156996"/>
            <a:ext cx="22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4.5:1 contrast ratio (normal text)</a:t>
            </a:r>
            <a:endParaRPr/>
          </a:p>
        </p:txBody>
      </p:sp>
      <p:sp>
        <p:nvSpPr>
          <p:cNvPr id="1090" name="Google Shape;1090;p38"/>
          <p:cNvSpPr txBox="1"/>
          <p:nvPr/>
        </p:nvSpPr>
        <p:spPr>
          <a:xfrm>
            <a:off x="9144000" y="3550178"/>
            <a:ext cx="22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prefers-reduced-motion respected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3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39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SAVSPOT</a:t>
            </a:r>
            <a:endParaRPr/>
          </a:p>
        </p:txBody>
      </p:sp>
      <p:sp>
        <p:nvSpPr>
          <p:cNvPr id="1097" name="Google Shape;1097;p39"/>
          <p:cNvSpPr txBox="1"/>
          <p:nvPr/>
        </p:nvSpPr>
        <p:spPr>
          <a:xfrm>
            <a:off x="1371600" y="265176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"Find your spot. Book your moment."</a:t>
            </a:r>
            <a:endParaRPr/>
          </a:p>
        </p:txBody>
      </p:sp>
      <p:sp>
        <p:nvSpPr>
          <p:cNvPr id="1098" name="Google Shape;1098;p39"/>
          <p:cNvSpPr/>
          <p:nvPr/>
        </p:nvSpPr>
        <p:spPr>
          <a:xfrm>
            <a:off x="5029200" y="3383280"/>
            <a:ext cx="210312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39"/>
          <p:cNvSpPr txBox="1"/>
          <p:nvPr/>
        </p:nvSpPr>
        <p:spPr>
          <a:xfrm>
            <a:off x="1371600" y="3749039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The free booking platform that works for any business in under 5 minutes.</a:t>
            </a:r>
            <a:br>
              <a:rPr b="0" i="0" lang="en-US" sz="2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AI-agent ready. Universal. Outcome-aligned.</a:t>
            </a:r>
            <a:endParaRPr/>
          </a:p>
        </p:txBody>
      </p:sp>
      <p:sp>
        <p:nvSpPr>
          <p:cNvPr id="1100" name="Google Shape;1100;p39"/>
          <p:cNvSpPr txBox="1"/>
          <p:nvPr/>
        </p:nvSpPr>
        <p:spPr>
          <a:xfrm>
            <a:off x="822960" y="47548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101" name="Google Shape;1101;p39"/>
          <p:cNvSpPr txBox="1"/>
          <p:nvPr/>
        </p:nvSpPr>
        <p:spPr>
          <a:xfrm>
            <a:off x="822960" y="52578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Specification</a:t>
            </a:r>
            <a:b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Documents</a:t>
            </a:r>
            <a:endParaRPr/>
          </a:p>
        </p:txBody>
      </p:sp>
      <p:sp>
        <p:nvSpPr>
          <p:cNvPr id="1102" name="Google Shape;1102;p39"/>
          <p:cNvSpPr txBox="1"/>
          <p:nvPr/>
        </p:nvSpPr>
        <p:spPr>
          <a:xfrm>
            <a:off x="2971800" y="47548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40+</a:t>
            </a:r>
            <a:endParaRPr/>
          </a:p>
        </p:txBody>
      </p:sp>
      <p:sp>
        <p:nvSpPr>
          <p:cNvPr id="1103" name="Google Shape;1103;p39"/>
          <p:cNvSpPr txBox="1"/>
          <p:nvPr/>
        </p:nvSpPr>
        <p:spPr>
          <a:xfrm>
            <a:off x="2971800" y="52578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b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Tables</a:t>
            </a:r>
            <a:endParaRPr/>
          </a:p>
        </p:txBody>
      </p:sp>
      <p:sp>
        <p:nvSpPr>
          <p:cNvPr id="1104" name="Google Shape;1104;p39"/>
          <p:cNvSpPr txBox="1"/>
          <p:nvPr/>
        </p:nvSpPr>
        <p:spPr>
          <a:xfrm>
            <a:off x="5120640" y="47548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100+</a:t>
            </a:r>
            <a:endParaRPr/>
          </a:p>
        </p:txBody>
      </p:sp>
      <p:sp>
        <p:nvSpPr>
          <p:cNvPr id="1105" name="Google Shape;1105;p39"/>
          <p:cNvSpPr txBox="1"/>
          <p:nvPr/>
        </p:nvSpPr>
        <p:spPr>
          <a:xfrm>
            <a:off x="5120640" y="52578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Functional</a:t>
            </a:r>
            <a:b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/>
          </a:p>
        </p:txBody>
      </p:sp>
      <p:sp>
        <p:nvSpPr>
          <p:cNvPr id="1106" name="Google Shape;1106;p39"/>
          <p:cNvSpPr txBox="1"/>
          <p:nvPr/>
        </p:nvSpPr>
        <p:spPr>
          <a:xfrm>
            <a:off x="7269480" y="47548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07" name="Google Shape;1107;p39"/>
          <p:cNvSpPr txBox="1"/>
          <p:nvPr/>
        </p:nvSpPr>
        <p:spPr>
          <a:xfrm>
            <a:off x="7269480" y="52578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Development</a:t>
            </a:r>
            <a:b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Phases</a:t>
            </a:r>
            <a:endParaRPr/>
          </a:p>
        </p:txBody>
      </p:sp>
      <p:sp>
        <p:nvSpPr>
          <p:cNvPr id="1108" name="Google Shape;1108;p39"/>
          <p:cNvSpPr txBox="1"/>
          <p:nvPr/>
        </p:nvSpPr>
        <p:spPr>
          <a:xfrm>
            <a:off x="9418320" y="47548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67M+</a:t>
            </a:r>
            <a:endParaRPr/>
          </a:p>
        </p:txBody>
      </p:sp>
      <p:sp>
        <p:nvSpPr>
          <p:cNvPr id="1109" name="Google Shape;1109;p39"/>
          <p:cNvSpPr txBox="1"/>
          <p:nvPr/>
        </p:nvSpPr>
        <p:spPr>
          <a:xfrm>
            <a:off x="9418320" y="52578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Addressable</a:t>
            </a:r>
            <a:b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Businesses</a:t>
            </a:r>
            <a:endParaRPr/>
          </a:p>
        </p:txBody>
      </p:sp>
      <p:sp>
        <p:nvSpPr>
          <p:cNvPr id="1110" name="Google Shape;1110;p39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SD Solutions, LLC  |  Stephen DeSlate  |  March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